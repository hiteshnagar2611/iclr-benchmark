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106984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/>
            <a:r>
              <a:rPr sz="3600" b="1">
                <a:solidFill>
                  <a:srgbClr val="FFFFFF"/>
                </a:solidFill>
                <a:latin typeface="Calibri"/>
              </a:rPr>
              <a:t>Protein and Nucleotide Foundation Models</a:t>
            </a:r>
          </a:p>
          <a:p>
            <a:pPr algn="ctr">
              <a:spcBef>
                <a:spcPts val="800"/>
              </a:spcBef>
            </a:pPr>
            <a:r>
              <a:rPr sz="3400" b="1">
                <a:solidFill>
                  <a:srgbClr val="4EC9B0"/>
                </a:solidFill>
                <a:latin typeface="Calibri"/>
              </a:rPr>
              <a:t>Encode Orthogonal Signals for Variant Pathogenicity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47472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/>
            <a:r>
              <a:rPr sz="2200" b="0">
                <a:solidFill>
                  <a:srgbClr val="D4D4D4"/>
                </a:solidFill>
                <a:latin typeface="Calibri"/>
              </a:rPr>
              <a:t>Hitesh Nagar  ·  CSIR-IGIB, New Delhi</a:t>
            </a:r>
          </a:p>
          <a:p>
            <a:pPr algn="ctr">
              <a:spcBef>
                <a:spcPts val="1200"/>
              </a:spcBef>
            </a:pPr>
            <a:r>
              <a:rPr sz="1800" b="0">
                <a:solidFill>
                  <a:srgbClr val="808080"/>
                </a:solidFill>
                <a:latin typeface="Calibri"/>
              </a:rPr>
              <a:t>ICLR 2026 Submission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2286000" y="3246120"/>
            <a:ext cx="7589520" cy="36576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457200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/>
            <a:r>
              <a:rPr sz="1600" b="0">
                <a:solidFill>
                  <a:srgbClr val="808080"/>
                </a:solidFill>
                <a:latin typeface="Calibri"/>
              </a:rPr>
              <a:t>Benchmarking 12 Foundation Models  ·  29,595 ClinVar Variants  ·  Gene-Disjoint Evaluation</a:t>
            </a:r>
          </a:p>
          <a:p>
            <a:pPr algn="ctr">
              <a:spcBef>
                <a:spcPts val="600"/>
              </a:spcBef>
            </a:pPr>
            <a:r>
              <a:rPr sz="1600" b="0">
                <a:solidFill>
                  <a:srgbClr val="4EC9B0"/>
                </a:solidFill>
                <a:latin typeface="Calibri"/>
              </a:rPr>
              <a:t>Meta-Learner AUROC 0.933  ·  Approaching AlphaMissense (0.948)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r"/>
            <a:r>
              <a:rPr sz="1000" b="0">
                <a:solidFill>
                  <a:srgbClr val="808080"/>
                </a:solidFill>
                <a:latin typeface="Calibri"/>
              </a:rPr>
              <a:t>1 / 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3200" b="1">
                <a:solidFill>
                  <a:srgbClr val="4EC9B0"/>
                </a:solidFill>
                <a:latin typeface="Calibri"/>
              </a:rPr>
              <a:t>Presentation Outline</a:t>
            </a:r>
          </a:p>
        </p:txBody>
      </p:sp>
      <p:sp>
        <p:nvSpPr>
          <p:cNvPr id="3" name="Oval 2"/>
          <p:cNvSpPr/>
          <p:nvPr/>
        </p:nvSpPr>
        <p:spPr>
          <a:xfrm>
            <a:off x="914400" y="1371600"/>
            <a:ext cx="320040" cy="320040"/>
          </a:xfrm>
          <a:prstGeom prst="ellipse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B1B2F"/>
                </a:solidFill>
                <a:latin typeface="Calibri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1344168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800" b="0">
                <a:solidFill>
                  <a:srgbClr val="D4D4D4"/>
                </a:solidFill>
                <a:latin typeface="Calibri"/>
              </a:rPr>
              <a:t>Motivation &amp; Problem</a:t>
            </a:r>
          </a:p>
        </p:txBody>
      </p:sp>
      <p:sp>
        <p:nvSpPr>
          <p:cNvPr id="5" name="Oval 4"/>
          <p:cNvSpPr/>
          <p:nvPr/>
        </p:nvSpPr>
        <p:spPr>
          <a:xfrm>
            <a:off x="914400" y="1773936"/>
            <a:ext cx="320040" cy="320040"/>
          </a:xfrm>
          <a:prstGeom prst="ellipse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B1B2F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746504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800" b="0">
                <a:solidFill>
                  <a:srgbClr val="D4D4D4"/>
                </a:solidFill>
                <a:latin typeface="Calibri"/>
              </a:rPr>
              <a:t>Datasets (D1, D2, ProteinGym, Splice)</a:t>
            </a:r>
          </a:p>
        </p:txBody>
      </p:sp>
      <p:sp>
        <p:nvSpPr>
          <p:cNvPr id="7" name="Oval 6"/>
          <p:cNvSpPr/>
          <p:nvPr/>
        </p:nvSpPr>
        <p:spPr>
          <a:xfrm>
            <a:off x="914400" y="2176272"/>
            <a:ext cx="320040" cy="320040"/>
          </a:xfrm>
          <a:prstGeom prst="ellipse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B1B2F"/>
                </a:solidFill>
                <a:latin typeface="Calibri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1488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800" b="0">
                <a:solidFill>
                  <a:srgbClr val="D4D4D4"/>
                </a:solidFill>
                <a:latin typeface="Calibri"/>
              </a:rPr>
              <a:t>Models Benchmarked (7 Protein + 5 Nucleotide)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2578608"/>
            <a:ext cx="320040" cy="320040"/>
          </a:xfrm>
          <a:prstGeom prst="ellipse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B1B2F"/>
                </a:solidFill>
                <a:latin typeface="Calibri"/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2551176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800" b="0">
                <a:solidFill>
                  <a:srgbClr val="D4D4D4"/>
                </a:solidFill>
                <a:latin typeface="Calibri"/>
              </a:rPr>
              <a:t>Methodology &amp; Feature Extraction</a:t>
            </a:r>
          </a:p>
        </p:txBody>
      </p:sp>
      <p:sp>
        <p:nvSpPr>
          <p:cNvPr id="11" name="Oval 10"/>
          <p:cNvSpPr/>
          <p:nvPr/>
        </p:nvSpPr>
        <p:spPr>
          <a:xfrm>
            <a:off x="914400" y="2980944"/>
            <a:ext cx="320040" cy="320040"/>
          </a:xfrm>
          <a:prstGeom prst="ellipse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B1B2F"/>
                </a:solidFill>
                <a:latin typeface="Calibri"/>
              </a:rPr>
              <a:t>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295351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800" b="0">
                <a:solidFill>
                  <a:srgbClr val="D4D4D4"/>
                </a:solidFill>
                <a:latin typeface="Calibri"/>
              </a:rPr>
              <a:t>Gene-Disjoint Evaluation Protocol</a:t>
            </a:r>
          </a:p>
        </p:txBody>
      </p:sp>
      <p:sp>
        <p:nvSpPr>
          <p:cNvPr id="13" name="Oval 12"/>
          <p:cNvSpPr/>
          <p:nvPr/>
        </p:nvSpPr>
        <p:spPr>
          <a:xfrm>
            <a:off x="914400" y="3383280"/>
            <a:ext cx="320040" cy="320040"/>
          </a:xfrm>
          <a:prstGeom prst="ellipse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B1B2F"/>
                </a:solidFill>
                <a:latin typeface="Calibri"/>
              </a:rPr>
              <a:t>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355848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800" b="0">
                <a:solidFill>
                  <a:srgbClr val="D4D4D4"/>
                </a:solidFill>
                <a:latin typeface="Calibri"/>
              </a:rPr>
              <a:t>Main Results — D1/D2 AUROC</a:t>
            </a:r>
          </a:p>
        </p:txBody>
      </p:sp>
      <p:sp>
        <p:nvSpPr>
          <p:cNvPr id="15" name="Oval 14"/>
          <p:cNvSpPr/>
          <p:nvPr/>
        </p:nvSpPr>
        <p:spPr>
          <a:xfrm>
            <a:off x="914400" y="3785616"/>
            <a:ext cx="320040" cy="320040"/>
          </a:xfrm>
          <a:prstGeom prst="ellipse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B1B2F"/>
                </a:solidFill>
                <a:latin typeface="Calibri"/>
              </a:rPr>
              <a:t>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3758184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800" b="0">
                <a:solidFill>
                  <a:srgbClr val="D4D4D4"/>
                </a:solidFill>
                <a:latin typeface="Calibri"/>
              </a:rPr>
              <a:t>Meta-Learner Fusion (AUROC 0.933)</a:t>
            </a:r>
          </a:p>
        </p:txBody>
      </p:sp>
      <p:sp>
        <p:nvSpPr>
          <p:cNvPr id="17" name="Oval 16"/>
          <p:cNvSpPr/>
          <p:nvPr/>
        </p:nvSpPr>
        <p:spPr>
          <a:xfrm>
            <a:off x="914400" y="4187952"/>
            <a:ext cx="320040" cy="320040"/>
          </a:xfrm>
          <a:prstGeom prst="ellipse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B1B2F"/>
                </a:solidFill>
                <a:latin typeface="Calibri"/>
              </a:rPr>
              <a:t>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41605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800" b="0">
                <a:solidFill>
                  <a:srgbClr val="D4D4D4"/>
                </a:solidFill>
                <a:latin typeface="Calibri"/>
              </a:rPr>
              <a:t>ProteinGym DMS Results</a:t>
            </a:r>
          </a:p>
        </p:txBody>
      </p:sp>
      <p:sp>
        <p:nvSpPr>
          <p:cNvPr id="19" name="Oval 18"/>
          <p:cNvSpPr/>
          <p:nvPr/>
        </p:nvSpPr>
        <p:spPr>
          <a:xfrm>
            <a:off x="914400" y="4590288"/>
            <a:ext cx="320040" cy="320040"/>
          </a:xfrm>
          <a:prstGeom prst="ellipse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B1B2F"/>
                </a:solidFill>
                <a:latin typeface="Calibri"/>
              </a:rPr>
              <a:t>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4562855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800" b="0">
                <a:solidFill>
                  <a:srgbClr val="D4D4D4"/>
                </a:solidFill>
                <a:latin typeface="Calibri"/>
              </a:rPr>
              <a:t>Splice Variant Results</a:t>
            </a:r>
          </a:p>
        </p:txBody>
      </p:sp>
      <p:sp>
        <p:nvSpPr>
          <p:cNvPr id="21" name="Oval 20"/>
          <p:cNvSpPr/>
          <p:nvPr/>
        </p:nvSpPr>
        <p:spPr>
          <a:xfrm>
            <a:off x="914400" y="4992624"/>
            <a:ext cx="320040" cy="320040"/>
          </a:xfrm>
          <a:prstGeom prst="ellipse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B1B2F"/>
                </a:solidFill>
                <a:latin typeface="Calibri"/>
              </a:rPr>
              <a:t>10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496519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800" b="0">
                <a:solidFill>
                  <a:srgbClr val="D4D4D4"/>
                </a:solidFill>
                <a:latin typeface="Calibri"/>
              </a:rPr>
              <a:t>Complementarity Analysis (CKA, Correlations)</a:t>
            </a:r>
          </a:p>
        </p:txBody>
      </p:sp>
      <p:sp>
        <p:nvSpPr>
          <p:cNvPr id="23" name="Oval 22"/>
          <p:cNvSpPr/>
          <p:nvPr/>
        </p:nvSpPr>
        <p:spPr>
          <a:xfrm>
            <a:off x="914400" y="5394960"/>
            <a:ext cx="320040" cy="320040"/>
          </a:xfrm>
          <a:prstGeom prst="ellipse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B1B2F"/>
                </a:solidFill>
                <a:latin typeface="Calibri"/>
              </a:rPr>
              <a:t>11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63040" y="5367528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800" b="0">
                <a:solidFill>
                  <a:srgbClr val="D4D4D4"/>
                </a:solidFill>
                <a:latin typeface="Calibri"/>
              </a:rPr>
              <a:t>Ablation Studies &amp; Quality Filtering</a:t>
            </a:r>
          </a:p>
        </p:txBody>
      </p:sp>
      <p:sp>
        <p:nvSpPr>
          <p:cNvPr id="25" name="Oval 24"/>
          <p:cNvSpPr/>
          <p:nvPr/>
        </p:nvSpPr>
        <p:spPr>
          <a:xfrm>
            <a:off x="914400" y="5797296"/>
            <a:ext cx="320040" cy="320040"/>
          </a:xfrm>
          <a:prstGeom prst="ellipse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B1B2F"/>
                </a:solidFill>
                <a:latin typeface="Calibri"/>
              </a:rPr>
              <a:t>12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63040" y="5769864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800" b="0">
                <a:solidFill>
                  <a:srgbClr val="D4D4D4"/>
                </a:solidFill>
                <a:latin typeface="Calibri"/>
              </a:rPr>
              <a:t>AlphaGenome Integration (In Progress)</a:t>
            </a:r>
          </a:p>
        </p:txBody>
      </p:sp>
      <p:sp>
        <p:nvSpPr>
          <p:cNvPr id="27" name="Oval 26"/>
          <p:cNvSpPr/>
          <p:nvPr/>
        </p:nvSpPr>
        <p:spPr>
          <a:xfrm>
            <a:off x="914400" y="6199632"/>
            <a:ext cx="320040" cy="320040"/>
          </a:xfrm>
          <a:prstGeom prst="ellipse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B1B2F"/>
                </a:solidFill>
                <a:latin typeface="Calibri"/>
              </a:rPr>
              <a:t>13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63040" y="61722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800" b="0">
                <a:solidFill>
                  <a:srgbClr val="D4D4D4"/>
                </a:solidFill>
                <a:latin typeface="Calibri"/>
              </a:rPr>
              <a:t>Key Contributions &amp; Conclusion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r"/>
            <a:r>
              <a:rPr sz="1000" b="0">
                <a:solidFill>
                  <a:srgbClr val="808080"/>
                </a:solidFill>
                <a:latin typeface="Calibri"/>
              </a:rPr>
              <a:t>2 / 24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32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4000" b="1">
                <a:solidFill>
                  <a:srgbClr val="4EC9B0"/>
                </a:solidFill>
                <a:latin typeface="Calibri"/>
              </a:rPr>
              <a:t>Part 1: Motivation &amp;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2000" b="0">
                <a:solidFill>
                  <a:srgbClr val="D4D4D4"/>
                </a:solidFill>
                <a:latin typeface="Calibri"/>
              </a:rPr>
              <a:t>Why do we need this benchmark?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r"/>
            <a:r>
              <a:rPr sz="1000" b="0">
                <a:solidFill>
                  <a:srgbClr val="808080"/>
                </a:solidFill>
                <a:latin typeface="Calibri"/>
              </a:rPr>
              <a:t>3 / 24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3000" b="1">
                <a:solidFill>
                  <a:srgbClr val="4EC9B0"/>
                </a:solidFill>
                <a:latin typeface="Calibri"/>
              </a:rPr>
              <a:t>The Practitioner's Dilemma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63040"/>
            <a:ext cx="5029200" cy="2377440"/>
          </a:xfrm>
          <a:prstGeom prst="rect">
            <a:avLst/>
          </a:prstGeom>
          <a:solidFill>
            <a:srgbClr val="24243E"/>
          </a:solidFill>
          <a:ln w="25400">
            <a:solidFill>
              <a:srgbClr val="569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  <a:p>
            <a:pPr algn="l"/>
            <a:r>
              <a:rPr sz="2000" b="1">
                <a:solidFill>
                  <a:srgbClr val="569CD6"/>
                </a:solidFill>
                <a:latin typeface="Calibri"/>
              </a:rPr>
              <a:t>Protein Foundation Models</a:t>
            </a:r>
          </a:p>
          <a:p>
            <a:pPr algn="l">
              <a:spcBef>
                <a:spcPts val="800"/>
              </a:spcBef>
            </a:pPr>
            <a:r>
              <a:rPr sz="1400" b="0">
                <a:solidFill>
                  <a:srgbClr val="D4D4D4"/>
                </a:solidFill>
                <a:latin typeface="Calibri"/>
              </a:rPr>
              <a:t>ESM-1b, ESM-2, ESM-1v, ESM-3, ProtBERT, ProtT5, Ankh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 b="0">
                <a:solidFill>
                  <a:srgbClr val="D4D4D4"/>
                </a:solidFill>
                <a:latin typeface="Calibri"/>
              </a:rPr>
              <a:t>• Learn amino-acid biophysics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 b="0">
                <a:solidFill>
                  <a:srgbClr val="D4D4D4"/>
                </a:solidFill>
                <a:latin typeface="Calibri"/>
              </a:rPr>
              <a:t>• Capture substitution effects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 b="0">
                <a:solidFill>
                  <a:srgbClr val="D4D4D4"/>
                </a:solidFill>
                <a:latin typeface="Calibri"/>
              </a:rPr>
              <a:t>• Trained on UniProt sequences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 b="0">
                <a:solidFill>
                  <a:srgbClr val="4EC9B0"/>
                </a:solidFill>
                <a:latin typeface="Calibri"/>
              </a:rPr>
              <a:t>• AUROC 0.88 on missense variants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0" y="1463040"/>
            <a:ext cx="5212080" cy="2377440"/>
          </a:xfrm>
          <a:prstGeom prst="rect">
            <a:avLst/>
          </a:prstGeom>
          <a:solidFill>
            <a:srgbClr val="24243E"/>
          </a:solidFill>
          <a:ln w="25400">
            <a:solidFill>
              <a:srgbClr val="CE91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  <a:p>
            <a:pPr algn="l"/>
            <a:r>
              <a:rPr sz="2000" b="1">
                <a:solidFill>
                  <a:srgbClr val="CE9178"/>
                </a:solidFill>
                <a:latin typeface="Calibri"/>
              </a:rPr>
              <a:t>Nucleotide Foundation Models</a:t>
            </a:r>
          </a:p>
          <a:p>
            <a:pPr algn="l">
              <a:spcBef>
                <a:spcPts val="800"/>
              </a:spcBef>
            </a:pPr>
            <a:r>
              <a:rPr sz="1400" b="0">
                <a:solidFill>
                  <a:srgbClr val="D4D4D4"/>
                </a:solidFill>
                <a:latin typeface="Calibri"/>
              </a:rPr>
              <a:t>EVO2-7B, NT-v2, DNABERT-2, GenaLM, HyenaDNA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 b="0">
                <a:solidFill>
                  <a:srgbClr val="D4D4D4"/>
                </a:solidFill>
                <a:latin typeface="Calibri"/>
              </a:rPr>
              <a:t>• Learn genomic context &amp; splicing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 b="0">
                <a:solidFill>
                  <a:srgbClr val="D4D4D4"/>
                </a:solidFill>
                <a:latin typeface="Calibri"/>
              </a:rPr>
              <a:t>• Capture regulatory signals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 b="0">
                <a:solidFill>
                  <a:srgbClr val="D4D4D4"/>
                </a:solidFill>
                <a:latin typeface="Calibri"/>
              </a:rPr>
              <a:t>• Trained on whole-genome sequences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 b="0">
                <a:solidFill>
                  <a:srgbClr val="FFA500"/>
                </a:solidFill>
                <a:latin typeface="Calibri"/>
              </a:rPr>
              <a:t>• AUROC 0.84 on missense variants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206240"/>
            <a:ext cx="10698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400"/>
              </a:spcBef>
            </a:pPr>
            <a:r>
              <a:rPr sz="2200" b="1">
                <a:solidFill>
                  <a:srgbClr val="FFFFFF"/>
                </a:solidFill>
                <a:latin typeface="Calibri"/>
              </a:rPr>
              <a:t>Three Unanswered Questions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4EC9B0"/>
                </a:solidFill>
                <a:latin typeface="Calibri"/>
              </a:rPr>
              <a:t>• Q1: Are the signals redundant or complementary?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4EC9B0"/>
                </a:solidFill>
                <a:latin typeface="Calibri"/>
              </a:rPr>
              <a:t>• Q2: Does score disagreement reflect real biology or noise?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4EC9B0"/>
                </a:solidFill>
                <a:latin typeface="Calibri"/>
              </a:rPr>
              <a:t>• Q3: Can fusing both modalities improve variant interpretation?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000" b="0">
                <a:solidFill>
                  <a:srgbClr val="D4D4D4"/>
                </a:solidFill>
                <a:latin typeface="Calibri"/>
              </a:rPr>
              <a:t>• 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600" b="0">
                <a:solidFill>
                  <a:srgbClr val="D4D4D4"/>
                </a:solidFill>
                <a:latin typeface="Calibri"/>
              </a:rPr>
              <a:t>• → No prior work compared protein AND nucleotide models under identical conditions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600" b="0">
                <a:solidFill>
                  <a:srgbClr val="D4D4D4"/>
                </a:solidFill>
                <a:latin typeface="Calibri"/>
              </a:rPr>
              <a:t>• → Existing benchmarks use random splits with gene-level information leakage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r"/>
            <a:r>
              <a:rPr sz="1000" b="0">
                <a:solidFill>
                  <a:srgbClr val="808080"/>
                </a:solidFill>
                <a:latin typeface="Calibri"/>
              </a:rPr>
              <a:t>4 / 24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32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4000" b="1">
                <a:solidFill>
                  <a:srgbClr val="4EC9B0"/>
                </a:solidFill>
                <a:latin typeface="Calibri"/>
              </a:rPr>
              <a:t>Part 2: Datasets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2000" b="0">
                <a:solidFill>
                  <a:srgbClr val="D4D4D4"/>
                </a:solidFill>
                <a:latin typeface="Calibri"/>
              </a:rPr>
              <a:t>ClinVar D1/D2, ProteinGym DMS, Splice Variants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r"/>
            <a:r>
              <a:rPr sz="1000" b="0">
                <a:solidFill>
                  <a:srgbClr val="808080"/>
                </a:solidFill>
                <a:latin typeface="Calibri"/>
              </a:rPr>
              <a:t>5 / 24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3000" b="1">
                <a:solidFill>
                  <a:srgbClr val="4EC9B0"/>
                </a:solidFill>
                <a:latin typeface="Calibri"/>
              </a:rPr>
              <a:t>Dataset Overview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280160"/>
          <a:ext cx="100584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188720"/>
                <a:gridCol w="2011680"/>
                <a:gridCol w="2011680"/>
                <a:gridCol w="1188720"/>
                <a:gridCol w="1828800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Dataset</a:t>
                      </a:r>
                    </a:p>
                  </a:txBody>
                  <a:tcPr anchor="ctr">
                    <a:solidFill>
                      <a:srgbClr val="4EC9B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Variants</a:t>
                      </a:r>
                    </a:p>
                  </a:txBody>
                  <a:tcPr anchor="ctr">
                    <a:solidFill>
                      <a:srgbClr val="4EC9B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Pathogenic</a:t>
                      </a:r>
                    </a:p>
                  </a:txBody>
                  <a:tcPr anchor="ctr">
                    <a:solidFill>
                      <a:srgbClr val="4EC9B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Benign</a:t>
                      </a:r>
                    </a:p>
                  </a:txBody>
                  <a:tcPr anchor="ctr">
                    <a:solidFill>
                      <a:srgbClr val="4EC9B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Genes</a:t>
                      </a:r>
                    </a:p>
                  </a:txBody>
                  <a:tcPr anchor="ctr">
                    <a:solidFill>
                      <a:srgbClr val="4EC9B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Use</a:t>
                      </a:r>
                    </a:p>
                  </a:txBody>
                  <a:tcPr anchor="ctr">
                    <a:solidFill>
                      <a:srgbClr val="4EC9B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D4D4D4"/>
                          </a:solidFill>
                          <a:latin typeface="Calibri"/>
                        </a:rPr>
                        <a:t>D1 (ClinVar)</a:t>
                      </a:r>
                    </a:p>
                  </a:txBody>
                  <a:tcPr anchor="ctr">
                    <a:solidFill>
                      <a:srgbClr val="1B1B2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D4D4D4"/>
                          </a:solidFill>
                          <a:latin typeface="Calibri"/>
                        </a:rPr>
                        <a:t>29,595</a:t>
                      </a:r>
                    </a:p>
                  </a:txBody>
                  <a:tcPr anchor="ctr">
                    <a:solidFill>
                      <a:srgbClr val="1B1B2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D4D4D4"/>
                          </a:solidFill>
                          <a:latin typeface="Calibri"/>
                        </a:rPr>
                        <a:t>15,540 (52.5%)</a:t>
                      </a:r>
                    </a:p>
                  </a:txBody>
                  <a:tcPr anchor="ctr">
                    <a:solidFill>
                      <a:srgbClr val="1B1B2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D4D4D4"/>
                          </a:solidFill>
                          <a:latin typeface="Calibri"/>
                        </a:rPr>
                        <a:t>14,055 (47.5%)</a:t>
                      </a:r>
                    </a:p>
                  </a:txBody>
                  <a:tcPr anchor="ctr">
                    <a:solidFill>
                      <a:srgbClr val="1B1B2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D4D4D4"/>
                          </a:solidFill>
                          <a:latin typeface="Calibri"/>
                        </a:rPr>
                        <a:t>6,371</a:t>
                      </a:r>
                    </a:p>
                  </a:txBody>
                  <a:tcPr anchor="ctr">
                    <a:solidFill>
                      <a:srgbClr val="1B1B2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D4D4D4"/>
                          </a:solidFill>
                          <a:latin typeface="Calibri"/>
                        </a:rPr>
                        <a:t>Primary benchmark</a:t>
                      </a:r>
                    </a:p>
                  </a:txBody>
                  <a:tcPr anchor="ctr">
                    <a:solidFill>
                      <a:srgbClr val="1B1B2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D4D4D4"/>
                          </a:solidFill>
                          <a:latin typeface="Calibri"/>
                        </a:rPr>
                        <a:t>D2 (Jan 2025)</a:t>
                      </a:r>
                    </a:p>
                  </a:txBody>
                  <a:tcPr anchor="ctr">
                    <a:solidFill>
                      <a:srgbClr val="2A2A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D4D4D4"/>
                          </a:solidFill>
                          <a:latin typeface="Calibri"/>
                        </a:rPr>
                        <a:t>9,627</a:t>
                      </a:r>
                    </a:p>
                  </a:txBody>
                  <a:tcPr anchor="ctr">
                    <a:solidFill>
                      <a:srgbClr val="2A2A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D4D4D4"/>
                          </a:solidFill>
                          <a:latin typeface="Calibri"/>
                        </a:rPr>
                        <a:t>3,865 (40.1%)</a:t>
                      </a:r>
                    </a:p>
                  </a:txBody>
                  <a:tcPr anchor="ctr">
                    <a:solidFill>
                      <a:srgbClr val="2A2A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D4D4D4"/>
                          </a:solidFill>
                          <a:latin typeface="Calibri"/>
                        </a:rPr>
                        <a:t>5,762 (59.9%)</a:t>
                      </a:r>
                    </a:p>
                  </a:txBody>
                  <a:tcPr anchor="ctr">
                    <a:solidFill>
                      <a:srgbClr val="2A2A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D4D4D4"/>
                          </a:solidFill>
                          <a:latin typeface="Calibri"/>
                        </a:rPr>
                        <a:t>2,569</a:t>
                      </a:r>
                    </a:p>
                  </a:txBody>
                  <a:tcPr anchor="ctr">
                    <a:solidFill>
                      <a:srgbClr val="2A2A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D4D4D4"/>
                          </a:solidFill>
                          <a:latin typeface="Calibri"/>
                        </a:rPr>
                        <a:t>Temporal holdout</a:t>
                      </a:r>
                    </a:p>
                  </a:txBody>
                  <a:tcPr anchor="ctr">
                    <a:solidFill>
                      <a:srgbClr val="2A2A4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D4D4D4"/>
                          </a:solidFill>
                          <a:latin typeface="Calibri"/>
                        </a:rPr>
                        <a:t>ProteinGym</a:t>
                      </a:r>
                    </a:p>
                  </a:txBody>
                  <a:tcPr anchor="ctr">
                    <a:solidFill>
                      <a:srgbClr val="1B1B2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D4D4D4"/>
                          </a:solidFill>
                          <a:latin typeface="Calibri"/>
                        </a:rPr>
                        <a:t>10 DMS</a:t>
                      </a:r>
                    </a:p>
                  </a:txBody>
                  <a:tcPr anchor="ctr">
                    <a:solidFill>
                      <a:srgbClr val="1B1B2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D4D4D4"/>
                          </a:solidFill>
                          <a:latin typeface="Calibri"/>
                        </a:rPr>
                        <a:t>~60K total</a:t>
                      </a:r>
                    </a:p>
                  </a:txBody>
                  <a:tcPr anchor="ctr">
                    <a:solidFill>
                      <a:srgbClr val="1B1B2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D4D4D4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>
                    <a:solidFill>
                      <a:srgbClr val="1B1B2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D4D4D4"/>
                          </a:solidFill>
                          <a:latin typeface="Calibri"/>
                        </a:rPr>
                        <a:t>10 genes</a:t>
                      </a:r>
                    </a:p>
                  </a:txBody>
                  <a:tcPr anchor="ctr">
                    <a:solidFill>
                      <a:srgbClr val="1B1B2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D4D4D4"/>
                          </a:solidFill>
                          <a:latin typeface="Calibri"/>
                        </a:rPr>
                        <a:t>Protein fitness</a:t>
                      </a:r>
                    </a:p>
                  </a:txBody>
                  <a:tcPr anchor="ctr">
                    <a:solidFill>
                      <a:srgbClr val="1B1B2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D4D4D4"/>
                          </a:solidFill>
                          <a:latin typeface="Calibri"/>
                        </a:rPr>
                        <a:t>Splice Variants</a:t>
                      </a:r>
                    </a:p>
                  </a:txBody>
                  <a:tcPr anchor="ctr">
                    <a:solidFill>
                      <a:srgbClr val="2A2A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D4D4D4"/>
                          </a:solidFill>
                          <a:latin typeface="Calibri"/>
                        </a:rPr>
                        <a:t>1,216</a:t>
                      </a:r>
                    </a:p>
                  </a:txBody>
                  <a:tcPr anchor="ctr">
                    <a:solidFill>
                      <a:srgbClr val="2A2A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D4D4D4"/>
                          </a:solidFill>
                          <a:latin typeface="Calibri"/>
                        </a:rPr>
                        <a:t>~608</a:t>
                      </a:r>
                    </a:p>
                  </a:txBody>
                  <a:tcPr anchor="ctr">
                    <a:solidFill>
                      <a:srgbClr val="2A2A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D4D4D4"/>
                          </a:solidFill>
                          <a:latin typeface="Calibri"/>
                        </a:rPr>
                        <a:t>~608</a:t>
                      </a:r>
                    </a:p>
                  </a:txBody>
                  <a:tcPr anchor="ctr">
                    <a:solidFill>
                      <a:srgbClr val="2A2A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D4D4D4"/>
                          </a:solidFill>
                          <a:latin typeface="Calibri"/>
                        </a:rPr>
                        <a:t>~400</a:t>
                      </a:r>
                    </a:p>
                  </a:txBody>
                  <a:tcPr anchor="ctr">
                    <a:solidFill>
                      <a:srgbClr val="2A2A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D4D4D4"/>
                          </a:solidFill>
                          <a:latin typeface="Calibri"/>
                        </a:rPr>
                        <a:t>Splice disruption</a:t>
                      </a:r>
                    </a:p>
                  </a:txBody>
                  <a:tcPr anchor="ctr">
                    <a:solidFill>
                      <a:srgbClr val="2A2A44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3840480"/>
            <a:ext cx="106984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400"/>
              </a:spcBef>
            </a:pPr>
            <a:r>
              <a:rPr sz="2200" b="1">
                <a:solidFill>
                  <a:srgbClr val="569CD6"/>
                </a:solidFill>
                <a:latin typeface="Calibri"/>
              </a:rPr>
              <a:t>Gene-Disjoint Split Strategy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600" b="0">
                <a:solidFill>
                  <a:srgbClr val="D4D4D4"/>
                </a:solidFill>
                <a:latin typeface="Calibri"/>
              </a:rPr>
              <a:t>• GroupShuffleSplit with gene_symbol as group key (test_size=0.2)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600" b="0">
                <a:solidFill>
                  <a:srgbClr val="D4D4D4"/>
                </a:solidFill>
                <a:latin typeface="Calibri"/>
              </a:rPr>
              <a:t>• D1: 5,096 train genes (23,113 variants) → 1,275 test genes (6,482 variants)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600" b="1">
                <a:solidFill>
                  <a:srgbClr val="4EC9B0"/>
                </a:solidFill>
                <a:latin typeface="Calibri"/>
              </a:rPr>
              <a:t>• Zero gene overlap between train and test sets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600" b="0">
                <a:solidFill>
                  <a:srgbClr val="D4D4D4"/>
                </a:solidFill>
                <a:latin typeface="Calibri"/>
              </a:rPr>
              <a:t>• D2: Temporal holdout — later ClinVar release (same genes, different variants)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600" b="0">
                <a:solidFill>
                  <a:srgbClr val="D4D4D4"/>
                </a:solidFill>
                <a:latin typeface="Calibri"/>
              </a:rPr>
              <a:t>• Quality subsets: Star 2+ (12,131) and Star 3+ (1,420) for reliability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r"/>
            <a:r>
              <a:rPr sz="1000" b="0">
                <a:solidFill>
                  <a:srgbClr val="808080"/>
                </a:solidFill>
                <a:latin typeface="Calibri"/>
              </a:rPr>
              <a:t>6 / 24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32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4000" b="1">
                <a:solidFill>
                  <a:srgbClr val="4EC9B0"/>
                </a:solidFill>
                <a:latin typeface="Calibri"/>
              </a:rPr>
              <a:t>Part 3: Models Benchmarked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2000" b="0">
                <a:solidFill>
                  <a:srgbClr val="D4D4D4"/>
                </a:solidFill>
                <a:latin typeface="Calibri"/>
              </a:rPr>
              <a:t>7 Protein + 5 Nucleotide Foundation Models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r"/>
            <a:r>
              <a:rPr sz="1000" b="0">
                <a:solidFill>
                  <a:srgbClr val="808080"/>
                </a:solidFill>
                <a:latin typeface="Calibri"/>
              </a:rPr>
              <a:t>7 / 24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3000" b="1">
                <a:solidFill>
                  <a:srgbClr val="569CD6"/>
                </a:solidFill>
                <a:latin typeface="Calibri"/>
              </a:rPr>
              <a:t>Protein Foundation Models (7)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188720"/>
          <a:ext cx="905256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2011680"/>
                <a:gridCol w="1097280"/>
                <a:gridCol w="1280160"/>
                <a:gridCol w="1188720"/>
                <a:gridCol w="1828800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 anchor="ctr">
                    <a:solidFill>
                      <a:srgbClr val="569C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Architecture</a:t>
                      </a:r>
                    </a:p>
                  </a:txBody>
                  <a:tcPr anchor="ctr">
                    <a:solidFill>
                      <a:srgbClr val="569C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Params</a:t>
                      </a:r>
                    </a:p>
                  </a:txBody>
                  <a:tcPr anchor="ctr">
                    <a:solidFill>
                      <a:srgbClr val="569C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Emb. Dim</a:t>
                      </a:r>
                    </a:p>
                  </a:txBody>
                  <a:tcPr anchor="ctr">
                    <a:solidFill>
                      <a:srgbClr val="569C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Max Len</a:t>
                      </a:r>
                    </a:p>
                  </a:txBody>
                  <a:tcPr anchor="ctr">
                    <a:solidFill>
                      <a:srgbClr val="569C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Scoring</a:t>
                      </a:r>
                    </a:p>
                  </a:txBody>
                  <a:tcPr anchor="ctr">
                    <a:solidFill>
                      <a:srgbClr val="569CD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D4D4D4"/>
                          </a:solidFill>
                          <a:latin typeface="Calibri"/>
                        </a:rPr>
                        <a:t>ESM-1b</a:t>
                      </a:r>
                    </a:p>
                  </a:txBody>
                  <a:tcPr anchor="ctr">
                    <a:solidFill>
                      <a:srgbClr val="1B1B2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D4D4D4"/>
                          </a:solidFill>
                          <a:latin typeface="Calibri"/>
                        </a:rPr>
                        <a:t>Transformer</a:t>
                      </a:r>
                    </a:p>
                  </a:txBody>
                  <a:tcPr anchor="ctr">
                    <a:solidFill>
                      <a:srgbClr val="1B1B2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D4D4D4"/>
                          </a:solidFill>
                          <a:latin typeface="Calibri"/>
                        </a:rPr>
                        <a:t>650M</a:t>
                      </a:r>
                    </a:p>
                  </a:txBody>
                  <a:tcPr anchor="ctr">
                    <a:solidFill>
                      <a:srgbClr val="1B1B2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D4D4D4"/>
                          </a:solidFill>
                          <a:latin typeface="Calibri"/>
                        </a:rPr>
                        <a:t>1,280</a:t>
                      </a:r>
                    </a:p>
                  </a:txBody>
                  <a:tcPr anchor="ctr">
                    <a:solidFill>
                      <a:srgbClr val="1B1B2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D4D4D4"/>
                          </a:solidFill>
                          <a:latin typeface="Calibri"/>
                        </a:rPr>
                        <a:t>1,022</a:t>
                      </a:r>
                    </a:p>
                  </a:txBody>
                  <a:tcPr anchor="ctr">
                    <a:solidFill>
                      <a:srgbClr val="1B1B2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D4D4D4"/>
                          </a:solidFill>
                          <a:latin typeface="Calibri"/>
                        </a:rPr>
                        <a:t>MLM + Cosine</a:t>
                      </a:r>
                    </a:p>
                  </a:txBody>
                  <a:tcPr anchor="ctr">
                    <a:solidFill>
                      <a:srgbClr val="1B1B2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D4D4D4"/>
                          </a:solidFill>
                          <a:latin typeface="Calibri"/>
                        </a:rPr>
                        <a:t>ESM-2</a:t>
                      </a:r>
                    </a:p>
                  </a:txBody>
                  <a:tcPr anchor="ctr">
                    <a:solidFill>
                      <a:srgbClr val="2A2A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D4D4D4"/>
                          </a:solidFill>
                          <a:latin typeface="Calibri"/>
                        </a:rPr>
                        <a:t>Transformer</a:t>
                      </a:r>
                    </a:p>
                  </a:txBody>
                  <a:tcPr anchor="ctr">
                    <a:solidFill>
                      <a:srgbClr val="2A2A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D4D4D4"/>
                          </a:solidFill>
                          <a:latin typeface="Calibri"/>
                        </a:rPr>
                        <a:t>3B</a:t>
                      </a:r>
                    </a:p>
                  </a:txBody>
                  <a:tcPr anchor="ctr">
                    <a:solidFill>
                      <a:srgbClr val="2A2A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D4D4D4"/>
                          </a:solidFill>
                          <a:latin typeface="Calibri"/>
                        </a:rPr>
                        <a:t>1,280</a:t>
                      </a:r>
                    </a:p>
                  </a:txBody>
                  <a:tcPr anchor="ctr">
                    <a:solidFill>
                      <a:srgbClr val="2A2A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D4D4D4"/>
                          </a:solidFill>
                          <a:latin typeface="Calibri"/>
                        </a:rPr>
                        <a:t>1,022</a:t>
                      </a:r>
                    </a:p>
                  </a:txBody>
                  <a:tcPr anchor="ctr">
                    <a:solidFill>
                      <a:srgbClr val="2A2A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D4D4D4"/>
                          </a:solidFill>
                          <a:latin typeface="Calibri"/>
                        </a:rPr>
                        <a:t>MLM + Cosine</a:t>
                      </a:r>
                    </a:p>
                  </a:txBody>
                  <a:tcPr anchor="ctr">
                    <a:solidFill>
                      <a:srgbClr val="2A2A4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D4D4D4"/>
                          </a:solidFill>
                          <a:latin typeface="Calibri"/>
                        </a:rPr>
                        <a:t>ESM-1v</a:t>
                      </a:r>
                    </a:p>
                  </a:txBody>
                  <a:tcPr anchor="ctr">
                    <a:solidFill>
                      <a:srgbClr val="1B1B2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D4D4D4"/>
                          </a:solidFill>
                          <a:latin typeface="Calibri"/>
                        </a:rPr>
                        <a:t>Transformer</a:t>
                      </a:r>
                    </a:p>
                  </a:txBody>
                  <a:tcPr anchor="ctr">
                    <a:solidFill>
                      <a:srgbClr val="1B1B2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D4D4D4"/>
                          </a:solidFill>
                          <a:latin typeface="Calibri"/>
                        </a:rPr>
                        <a:t>650M</a:t>
                      </a:r>
                    </a:p>
                  </a:txBody>
                  <a:tcPr anchor="ctr">
                    <a:solidFill>
                      <a:srgbClr val="1B1B2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D4D4D4"/>
                          </a:solidFill>
                          <a:latin typeface="Calibri"/>
                        </a:rPr>
                        <a:t>1,280</a:t>
                      </a:r>
                    </a:p>
                  </a:txBody>
                  <a:tcPr anchor="ctr">
                    <a:solidFill>
                      <a:srgbClr val="1B1B2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D4D4D4"/>
                          </a:solidFill>
                          <a:latin typeface="Calibri"/>
                        </a:rPr>
                        <a:t>1,022</a:t>
                      </a:r>
                    </a:p>
                  </a:txBody>
                  <a:tcPr anchor="ctr">
                    <a:solidFill>
                      <a:srgbClr val="1B1B2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D4D4D4"/>
                          </a:solidFill>
                          <a:latin typeface="Calibri"/>
                        </a:rPr>
                        <a:t>MLM + Cosine</a:t>
                      </a:r>
                    </a:p>
                  </a:txBody>
                  <a:tcPr anchor="ctr">
                    <a:solidFill>
                      <a:srgbClr val="1B1B2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D4D4D4"/>
                          </a:solidFill>
                          <a:latin typeface="Calibri"/>
                        </a:rPr>
                        <a:t>ESM-3</a:t>
                      </a:r>
                    </a:p>
                  </a:txBody>
                  <a:tcPr anchor="ctr">
                    <a:solidFill>
                      <a:srgbClr val="2A2A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D4D4D4"/>
                          </a:solidFill>
                          <a:latin typeface="Calibri"/>
                        </a:rPr>
                        <a:t>Transformer</a:t>
                      </a:r>
                    </a:p>
                  </a:txBody>
                  <a:tcPr anchor="ctr">
                    <a:solidFill>
                      <a:srgbClr val="2A2A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D4D4D4"/>
                          </a:solidFill>
                          <a:latin typeface="Calibri"/>
                        </a:rPr>
                        <a:t>1.4B</a:t>
                      </a:r>
                    </a:p>
                  </a:txBody>
                  <a:tcPr anchor="ctr">
                    <a:solidFill>
                      <a:srgbClr val="2A2A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D4D4D4"/>
                          </a:solidFill>
                          <a:latin typeface="Calibri"/>
                        </a:rPr>
                        <a:t>1,536</a:t>
                      </a:r>
                    </a:p>
                  </a:txBody>
                  <a:tcPr anchor="ctr">
                    <a:solidFill>
                      <a:srgbClr val="2A2A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D4D4D4"/>
                          </a:solidFill>
                          <a:latin typeface="Calibri"/>
                        </a:rPr>
                        <a:t>1,022</a:t>
                      </a:r>
                    </a:p>
                  </a:txBody>
                  <a:tcPr anchor="ctr">
                    <a:solidFill>
                      <a:srgbClr val="2A2A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D4D4D4"/>
                          </a:solidFill>
                          <a:latin typeface="Calibri"/>
                        </a:rPr>
                        <a:t>MLM + Cosine</a:t>
                      </a:r>
                    </a:p>
                  </a:txBody>
                  <a:tcPr anchor="ctr">
                    <a:solidFill>
                      <a:srgbClr val="2A2A4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D4D4D4"/>
                          </a:solidFill>
                          <a:latin typeface="Calibri"/>
                        </a:rPr>
                        <a:t>ProtBERT</a:t>
                      </a:r>
                    </a:p>
                  </a:txBody>
                  <a:tcPr anchor="ctr">
                    <a:solidFill>
                      <a:srgbClr val="1B1B2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D4D4D4"/>
                          </a:solidFill>
                          <a:latin typeface="Calibri"/>
                        </a:rPr>
                        <a:t>Transformer</a:t>
                      </a:r>
                    </a:p>
                  </a:txBody>
                  <a:tcPr anchor="ctr">
                    <a:solidFill>
                      <a:srgbClr val="1B1B2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D4D4D4"/>
                          </a:solidFill>
                          <a:latin typeface="Calibri"/>
                        </a:rPr>
                        <a:t>350M</a:t>
                      </a:r>
                    </a:p>
                  </a:txBody>
                  <a:tcPr anchor="ctr">
                    <a:solidFill>
                      <a:srgbClr val="1B1B2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D4D4D4"/>
                          </a:solidFill>
                          <a:latin typeface="Calibri"/>
                        </a:rPr>
                        <a:t>1,024</a:t>
                      </a:r>
                    </a:p>
                  </a:txBody>
                  <a:tcPr anchor="ctr">
                    <a:solidFill>
                      <a:srgbClr val="1B1B2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D4D4D4"/>
                          </a:solidFill>
                          <a:latin typeface="Calibri"/>
                        </a:rPr>
                        <a:t>512</a:t>
                      </a:r>
                    </a:p>
                  </a:txBody>
                  <a:tcPr anchor="ctr">
                    <a:solidFill>
                      <a:srgbClr val="1B1B2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D4D4D4"/>
                          </a:solidFill>
                          <a:latin typeface="Calibri"/>
                        </a:rPr>
                        <a:t>MLM + Cosine</a:t>
                      </a:r>
                    </a:p>
                  </a:txBody>
                  <a:tcPr anchor="ctr">
                    <a:solidFill>
                      <a:srgbClr val="1B1B2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D4D4D4"/>
                          </a:solidFill>
                          <a:latin typeface="Calibri"/>
                        </a:rPr>
                        <a:t>ProtT5</a:t>
                      </a:r>
                    </a:p>
                  </a:txBody>
                  <a:tcPr anchor="ctr">
                    <a:solidFill>
                      <a:srgbClr val="2A2A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D4D4D4"/>
                          </a:solidFill>
                          <a:latin typeface="Calibri"/>
                        </a:rPr>
                        <a:t>T5 Encoder-Decoder</a:t>
                      </a:r>
                    </a:p>
                  </a:txBody>
                  <a:tcPr anchor="ctr">
                    <a:solidFill>
                      <a:srgbClr val="2A2A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D4D4D4"/>
                          </a:solidFill>
                          <a:latin typeface="Calibri"/>
                        </a:rPr>
                        <a:t>3B</a:t>
                      </a:r>
                    </a:p>
                  </a:txBody>
                  <a:tcPr anchor="ctr">
                    <a:solidFill>
                      <a:srgbClr val="2A2A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D4D4D4"/>
                          </a:solidFill>
                          <a:latin typeface="Calibri"/>
                        </a:rPr>
                        <a:t>1,024</a:t>
                      </a:r>
                    </a:p>
                  </a:txBody>
                  <a:tcPr anchor="ctr">
                    <a:solidFill>
                      <a:srgbClr val="2A2A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D4D4D4"/>
                          </a:solidFill>
                          <a:latin typeface="Calibri"/>
                        </a:rPr>
                        <a:t>512</a:t>
                      </a:r>
                    </a:p>
                  </a:txBody>
                  <a:tcPr anchor="ctr">
                    <a:solidFill>
                      <a:srgbClr val="2A2A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D4D4D4"/>
                          </a:solidFill>
                          <a:latin typeface="Calibri"/>
                        </a:rPr>
                        <a:t>Cosine only</a:t>
                      </a:r>
                    </a:p>
                  </a:txBody>
                  <a:tcPr anchor="ctr">
                    <a:solidFill>
                      <a:srgbClr val="2A2A4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D4D4D4"/>
                          </a:solidFill>
                          <a:latin typeface="Calibri"/>
                        </a:rPr>
                        <a:t>Ankh</a:t>
                      </a:r>
                    </a:p>
                  </a:txBody>
                  <a:tcPr anchor="ctr">
                    <a:solidFill>
                      <a:srgbClr val="1B1B2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D4D4D4"/>
                          </a:solidFill>
                          <a:latin typeface="Calibri"/>
                        </a:rPr>
                        <a:t>T5 Encoder-Decoder</a:t>
                      </a:r>
                    </a:p>
                  </a:txBody>
                  <a:tcPr anchor="ctr">
                    <a:solidFill>
                      <a:srgbClr val="1B1B2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D4D4D4"/>
                          </a:solidFill>
                          <a:latin typeface="Calibri"/>
                        </a:rPr>
                        <a:t>500M</a:t>
                      </a:r>
                    </a:p>
                  </a:txBody>
                  <a:tcPr anchor="ctr">
                    <a:solidFill>
                      <a:srgbClr val="1B1B2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D4D4D4"/>
                          </a:solidFill>
                          <a:latin typeface="Calibri"/>
                        </a:rPr>
                        <a:t>1,536</a:t>
                      </a:r>
                    </a:p>
                  </a:txBody>
                  <a:tcPr anchor="ctr">
                    <a:solidFill>
                      <a:srgbClr val="1B1B2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D4D4D4"/>
                          </a:solidFill>
                          <a:latin typeface="Calibri"/>
                        </a:rPr>
                        <a:t>512</a:t>
                      </a:r>
                    </a:p>
                  </a:txBody>
                  <a:tcPr anchor="ctr">
                    <a:solidFill>
                      <a:srgbClr val="1B1B2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D4D4D4"/>
                          </a:solidFill>
                          <a:latin typeface="Calibri"/>
                        </a:rPr>
                        <a:t>Cosine only</a:t>
                      </a:r>
                    </a:p>
                  </a:txBody>
                  <a:tcPr anchor="ctr">
                    <a:solidFill>
                      <a:srgbClr val="1B1B2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512064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Two scoring paradigms: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 b="0">
                <a:solidFill>
                  <a:srgbClr val="D4D4D4"/>
                </a:solidFill>
                <a:latin typeface="Calibri"/>
              </a:rPr>
              <a:t>• MLM Score: s = log P(x_mut | context) − log P(x_wt | context)  →  more negative = more deleterious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 b="0">
                <a:solidFill>
                  <a:srgbClr val="D4D4D4"/>
                </a:solidFill>
                <a:latin typeface="Calibri"/>
              </a:rPr>
              <a:t>• Cosine Similarity: s = (h_mut · h_wt) / (‖h_mut‖ ‖h_wt‖)  →  lower = more disruptive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r"/>
            <a:r>
              <a:rPr sz="1000" b="0">
                <a:solidFill>
                  <a:srgbClr val="808080"/>
                </a:solidFill>
                <a:latin typeface="Calibri"/>
              </a:rPr>
              <a:t>8 / 24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3000" b="1">
                <a:solidFill>
                  <a:srgbClr val="CE9178"/>
                </a:solidFill>
                <a:latin typeface="Calibri"/>
              </a:rPr>
              <a:t>Nucleotide Foundation Models (5)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188720"/>
          <a:ext cx="923544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2011680"/>
                <a:gridCol w="1097280"/>
                <a:gridCol w="1280160"/>
                <a:gridCol w="1371600"/>
                <a:gridCol w="1828800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 anchor="ctr">
                    <a:solidFill>
                      <a:srgbClr val="CE91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Architecture</a:t>
                      </a:r>
                    </a:p>
                  </a:txBody>
                  <a:tcPr anchor="ctr">
                    <a:solidFill>
                      <a:srgbClr val="CE91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Params</a:t>
                      </a:r>
                    </a:p>
                  </a:txBody>
                  <a:tcPr anchor="ctr">
                    <a:solidFill>
                      <a:srgbClr val="CE91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Emb. Dim</a:t>
                      </a:r>
                    </a:p>
                  </a:txBody>
                  <a:tcPr anchor="ctr">
                    <a:solidFill>
                      <a:srgbClr val="CE91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Max Len</a:t>
                      </a:r>
                    </a:p>
                  </a:txBody>
                  <a:tcPr anchor="ctr">
                    <a:solidFill>
                      <a:srgbClr val="CE91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Scoring</a:t>
                      </a:r>
                    </a:p>
                  </a:txBody>
                  <a:tcPr anchor="ctr">
                    <a:solidFill>
                      <a:srgbClr val="CE917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D4D4D4"/>
                          </a:solidFill>
                          <a:latin typeface="Calibri"/>
                        </a:rPr>
                        <a:t>EVO2-7B</a:t>
                      </a:r>
                    </a:p>
                  </a:txBody>
                  <a:tcPr anchor="ctr">
                    <a:solidFill>
                      <a:srgbClr val="1B1B2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D4D4D4"/>
                          </a:solidFill>
                          <a:latin typeface="Calibri"/>
                        </a:rPr>
                        <a:t>Hyena-SSM</a:t>
                      </a:r>
                    </a:p>
                  </a:txBody>
                  <a:tcPr anchor="ctr">
                    <a:solidFill>
                      <a:srgbClr val="1B1B2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D4D4D4"/>
                          </a:solidFill>
                          <a:latin typeface="Calibri"/>
                        </a:rPr>
                        <a:t>7B</a:t>
                      </a:r>
                    </a:p>
                  </a:txBody>
                  <a:tcPr anchor="ctr">
                    <a:solidFill>
                      <a:srgbClr val="1B1B2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D4D4D4"/>
                          </a:solidFill>
                          <a:latin typeface="Calibri"/>
                        </a:rPr>
                        <a:t>4,096</a:t>
                      </a:r>
                    </a:p>
                  </a:txBody>
                  <a:tcPr anchor="ctr">
                    <a:solidFill>
                      <a:srgbClr val="1B1B2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D4D4D4"/>
                          </a:solidFill>
                          <a:latin typeface="Calibri"/>
                        </a:rPr>
                        <a:t>131,072</a:t>
                      </a:r>
                    </a:p>
                  </a:txBody>
                  <a:tcPr anchor="ctr">
                    <a:solidFill>
                      <a:srgbClr val="1B1B2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D4D4D4"/>
                          </a:solidFill>
                          <a:latin typeface="Calibri"/>
                        </a:rPr>
                        <a:t>PLL (LLR)</a:t>
                      </a:r>
                    </a:p>
                  </a:txBody>
                  <a:tcPr anchor="ctr">
                    <a:solidFill>
                      <a:srgbClr val="1B1B2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D4D4D4"/>
                          </a:solidFill>
                          <a:latin typeface="Calibri"/>
                        </a:rPr>
                        <a:t>NT-v2</a:t>
                      </a:r>
                    </a:p>
                  </a:txBody>
                  <a:tcPr anchor="ctr">
                    <a:solidFill>
                      <a:srgbClr val="2A2A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D4D4D4"/>
                          </a:solidFill>
                          <a:latin typeface="Calibri"/>
                        </a:rPr>
                        <a:t>Transformer</a:t>
                      </a:r>
                    </a:p>
                  </a:txBody>
                  <a:tcPr anchor="ctr">
                    <a:solidFill>
                      <a:srgbClr val="2A2A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D4D4D4"/>
                          </a:solidFill>
                          <a:latin typeface="Calibri"/>
                        </a:rPr>
                        <a:t>500M</a:t>
                      </a:r>
                    </a:p>
                  </a:txBody>
                  <a:tcPr anchor="ctr">
                    <a:solidFill>
                      <a:srgbClr val="2A2A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D4D4D4"/>
                          </a:solidFill>
                          <a:latin typeface="Calibri"/>
                        </a:rPr>
                        <a:t>1,024</a:t>
                      </a:r>
                    </a:p>
                  </a:txBody>
                  <a:tcPr anchor="ctr">
                    <a:solidFill>
                      <a:srgbClr val="2A2A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D4D4D4"/>
                          </a:solidFill>
                          <a:latin typeface="Calibri"/>
                        </a:rPr>
                        <a:t>3,072</a:t>
                      </a:r>
                    </a:p>
                  </a:txBody>
                  <a:tcPr anchor="ctr">
                    <a:solidFill>
                      <a:srgbClr val="2A2A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D4D4D4"/>
                          </a:solidFill>
                          <a:latin typeface="Calibri"/>
                        </a:rPr>
                        <a:t>MLM + Cosine</a:t>
                      </a:r>
                    </a:p>
                  </a:txBody>
                  <a:tcPr anchor="ctr">
                    <a:solidFill>
                      <a:srgbClr val="2A2A4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D4D4D4"/>
                          </a:solidFill>
                          <a:latin typeface="Calibri"/>
                        </a:rPr>
                        <a:t>DNABERT-2</a:t>
                      </a:r>
                    </a:p>
                  </a:txBody>
                  <a:tcPr anchor="ctr">
                    <a:solidFill>
                      <a:srgbClr val="1B1B2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D4D4D4"/>
                          </a:solidFill>
                          <a:latin typeface="Calibri"/>
                        </a:rPr>
                        <a:t>BERT</a:t>
                      </a:r>
                    </a:p>
                  </a:txBody>
                  <a:tcPr anchor="ctr">
                    <a:solidFill>
                      <a:srgbClr val="1B1B2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D4D4D4"/>
                          </a:solidFill>
                          <a:latin typeface="Calibri"/>
                        </a:rPr>
                        <a:t>350M</a:t>
                      </a:r>
                    </a:p>
                  </a:txBody>
                  <a:tcPr anchor="ctr">
                    <a:solidFill>
                      <a:srgbClr val="1B1B2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D4D4D4"/>
                          </a:solidFill>
                          <a:latin typeface="Calibri"/>
                        </a:rPr>
                        <a:t>768</a:t>
                      </a:r>
                    </a:p>
                  </a:txBody>
                  <a:tcPr anchor="ctr">
                    <a:solidFill>
                      <a:srgbClr val="1B1B2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D4D4D4"/>
                          </a:solidFill>
                          <a:latin typeface="Calibri"/>
                        </a:rPr>
                        <a:t>512</a:t>
                      </a:r>
                    </a:p>
                  </a:txBody>
                  <a:tcPr anchor="ctr">
                    <a:solidFill>
                      <a:srgbClr val="1B1B2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D4D4D4"/>
                          </a:solidFill>
                          <a:latin typeface="Calibri"/>
                        </a:rPr>
                        <a:t>MLM + Cosine</a:t>
                      </a:r>
                    </a:p>
                  </a:txBody>
                  <a:tcPr anchor="ctr">
                    <a:solidFill>
                      <a:srgbClr val="1B1B2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D4D4D4"/>
                          </a:solidFill>
                          <a:latin typeface="Calibri"/>
                        </a:rPr>
                        <a:t>GenaLM</a:t>
                      </a:r>
                    </a:p>
                  </a:txBody>
                  <a:tcPr anchor="ctr">
                    <a:solidFill>
                      <a:srgbClr val="2A2A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D4D4D4"/>
                          </a:solidFill>
                          <a:latin typeface="Calibri"/>
                        </a:rPr>
                        <a:t>Mamba</a:t>
                      </a:r>
                    </a:p>
                  </a:txBody>
                  <a:tcPr anchor="ctr">
                    <a:solidFill>
                      <a:srgbClr val="2A2A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D4D4D4"/>
                          </a:solidFill>
                          <a:latin typeface="Calibri"/>
                        </a:rPr>
                        <a:t>370M</a:t>
                      </a:r>
                    </a:p>
                  </a:txBody>
                  <a:tcPr anchor="ctr">
                    <a:solidFill>
                      <a:srgbClr val="2A2A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D4D4D4"/>
                          </a:solidFill>
                          <a:latin typeface="Calibri"/>
                        </a:rPr>
                        <a:t>768</a:t>
                      </a:r>
                    </a:p>
                  </a:txBody>
                  <a:tcPr anchor="ctr">
                    <a:solidFill>
                      <a:srgbClr val="2A2A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D4D4D4"/>
                          </a:solidFill>
                          <a:latin typeface="Calibri"/>
                        </a:rPr>
                        <a:t>3,072</a:t>
                      </a:r>
                    </a:p>
                  </a:txBody>
                  <a:tcPr anchor="ctr">
                    <a:solidFill>
                      <a:srgbClr val="2A2A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D4D4D4"/>
                          </a:solidFill>
                          <a:latin typeface="Calibri"/>
                        </a:rPr>
                        <a:t>MLM + Cosine</a:t>
                      </a:r>
                    </a:p>
                  </a:txBody>
                  <a:tcPr anchor="ctr">
                    <a:solidFill>
                      <a:srgbClr val="2A2A4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D4D4D4"/>
                          </a:solidFill>
                          <a:latin typeface="Calibri"/>
                        </a:rPr>
                        <a:t>HyenaDNA</a:t>
                      </a:r>
                    </a:p>
                  </a:txBody>
                  <a:tcPr anchor="ctr">
                    <a:solidFill>
                      <a:srgbClr val="1B1B2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D4D4D4"/>
                          </a:solidFill>
                          <a:latin typeface="Calibri"/>
                        </a:rPr>
                        <a:t>Hyena</a:t>
                      </a:r>
                    </a:p>
                  </a:txBody>
                  <a:tcPr anchor="ctr">
                    <a:solidFill>
                      <a:srgbClr val="1B1B2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D4D4D4"/>
                          </a:solidFill>
                          <a:latin typeface="Calibri"/>
                        </a:rPr>
                        <a:t>1.6B</a:t>
                      </a:r>
                    </a:p>
                  </a:txBody>
                  <a:tcPr anchor="ctr">
                    <a:solidFill>
                      <a:srgbClr val="1B1B2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D4D4D4"/>
                          </a:solidFill>
                          <a:latin typeface="Calibri"/>
                        </a:rPr>
                        <a:t>256</a:t>
                      </a:r>
                    </a:p>
                  </a:txBody>
                  <a:tcPr anchor="ctr">
                    <a:solidFill>
                      <a:srgbClr val="1B1B2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D4D4D4"/>
                          </a:solidFill>
                          <a:latin typeface="Calibri"/>
                        </a:rPr>
                        <a:t>3,072</a:t>
                      </a:r>
                    </a:p>
                  </a:txBody>
                  <a:tcPr anchor="ctr">
                    <a:solidFill>
                      <a:srgbClr val="1B1B2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D4D4D4"/>
                          </a:solidFill>
                          <a:latin typeface="Calibri"/>
                        </a:rPr>
                        <a:t>MLM + Cosine</a:t>
                      </a:r>
                    </a:p>
                  </a:txBody>
                  <a:tcPr anchor="ctr">
                    <a:solidFill>
                      <a:srgbClr val="1B1B2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4206240"/>
            <a:ext cx="10698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400"/>
              </a:spcBef>
            </a:pPr>
            <a:r>
              <a:rPr sz="1800" b="1">
                <a:solidFill>
                  <a:srgbClr val="FFFFFF"/>
                </a:solidFill>
                <a:latin typeface="Calibri"/>
              </a:rPr>
              <a:t>EVO2-7B Scoring (Log-Likelihood Ratio)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500" b="0">
                <a:solidFill>
                  <a:srgbClr val="D4D4D4"/>
                </a:solidFill>
                <a:latin typeface="Calibri"/>
              </a:rPr>
              <a:t>• evo2_delta_score = mut_score − wt_score  (sum of log-probabilities over 6,002 bp window)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500" b="0">
                <a:solidFill>
                  <a:srgbClr val="D4D4D4"/>
                </a:solidFill>
                <a:latin typeface="Calibri"/>
              </a:rPr>
              <a:t>• More negative delta = more pathogenic  →  AUROC via negated scores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500" b="0">
                <a:solidFill>
                  <a:srgbClr val="D4D4D4"/>
                </a:solidFill>
                <a:latin typeface="Calibri"/>
              </a:rPr>
              <a:t>• EVO2 context: 3,001 bp upstream + variant + 3,001 bp downstream (extracted from 20 kb flanking)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800" b="0">
                <a:solidFill>
                  <a:srgbClr val="D4D4D4"/>
                </a:solidFill>
                <a:latin typeface="Calibri"/>
              </a:rPr>
              <a:t>• </a:t>
            </a:r>
          </a:p>
          <a:p>
            <a:pPr algn="l">
              <a:spcBef>
                <a:spcPts val="400"/>
              </a:spcBef>
            </a:pPr>
            <a:r>
              <a:rPr sz="1800" b="1">
                <a:solidFill>
                  <a:srgbClr val="FFFFFF"/>
                </a:solidFill>
                <a:latin typeface="Calibri"/>
              </a:rPr>
              <a:t>NT-v2 Splice Scoring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500" b="0">
                <a:solidFill>
                  <a:srgbClr val="D4D4D4"/>
                </a:solidFill>
                <a:latin typeface="Calibri"/>
              </a:rPr>
              <a:t>• Cosine distance on 500 bp window around splice site → AUROC 0.640 (best method)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500" b="0">
                <a:solidFill>
                  <a:srgbClr val="D4D4D4"/>
                </a:solidFill>
                <a:latin typeface="Calibri"/>
              </a:rPr>
              <a:t>• Marginal log-likelihood → AUROC 0.523  |  Masked-LM at variant → AUROC 0.515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r"/>
            <a:r>
              <a:rPr sz="1000" b="0">
                <a:solidFill>
                  <a:srgbClr val="808080"/>
                </a:solidFill>
                <a:latin typeface="Calibri"/>
              </a:rPr>
              <a:t>9 / 24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32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4000" b="1">
                <a:solidFill>
                  <a:srgbClr val="4EC9B0"/>
                </a:solidFill>
                <a:latin typeface="Calibri"/>
              </a:rPr>
              <a:t>Part 4: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2000" b="0">
                <a:solidFill>
                  <a:srgbClr val="D4D4D4"/>
                </a:solidFill>
                <a:latin typeface="Calibri"/>
              </a:rPr>
              <a:t>Feature Extraction → Meta-Learner →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r"/>
            <a:r>
              <a:rPr sz="1000" b="0">
                <a:solidFill>
                  <a:srgbClr val="808080"/>
                </a:solidFill>
                <a:latin typeface="Calibri"/>
              </a:rPr>
              <a:t>10 / 24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3000" b="1">
                <a:solidFill>
                  <a:srgbClr val="4EC9B0"/>
                </a:solidFill>
                <a:latin typeface="Calibri"/>
              </a:rPr>
              <a:t>Meta-Learner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5303520" cy="3291840"/>
          </a:xfrm>
          <a:prstGeom prst="rect">
            <a:avLst/>
          </a:prstGeom>
          <a:solidFill>
            <a:srgbClr val="24243E"/>
          </a:solidFill>
          <a:ln w="25400">
            <a:solidFill>
              <a:srgbClr val="569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  <a:p>
            <a:pPr algn="l"/>
            <a:r>
              <a:rPr sz="1800" b="1">
                <a:solidFill>
                  <a:srgbClr val="569CD6"/>
                </a:solidFill>
                <a:latin typeface="Calibri"/>
              </a:rPr>
              <a:t>Foundation Model Scores (20)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 b="0">
                <a:solidFill>
                  <a:srgbClr val="D4D4D4"/>
                </a:solidFill>
                <a:latin typeface="Calibri"/>
              </a:rPr>
              <a:t>• 5 Protein MLM scores (ESM-1b, ESM-2, ESM-1v, ESM-3, ProtBERT)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 b="0">
                <a:solidFill>
                  <a:srgbClr val="D4D4D4"/>
                </a:solidFill>
                <a:latin typeface="Calibri"/>
              </a:rPr>
              <a:t>• 4 Nucleotide MLM scores (EVO2, NT-v2, DNABERT-2, GenaLM)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 b="0">
                <a:solidFill>
                  <a:srgbClr val="D4D4D4"/>
                </a:solidFill>
                <a:latin typeface="Calibri"/>
              </a:rPr>
              <a:t>• 6 Protein Cosine scores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 b="0">
                <a:solidFill>
                  <a:srgbClr val="D4D4D4"/>
                </a:solidFill>
                <a:latin typeface="Calibri"/>
              </a:rPr>
              <a:t>• 5 Nucleotide Cosine scores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0" y="1280160"/>
            <a:ext cx="5303520" cy="3291840"/>
          </a:xfrm>
          <a:prstGeom prst="rect">
            <a:avLst/>
          </a:prstGeom>
          <a:solidFill>
            <a:srgbClr val="24243E"/>
          </a:solidFill>
          <a:ln w="25400">
            <a:solidFill>
              <a:srgbClr val="CE91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  <a:p>
            <a:pPr algn="l"/>
            <a:r>
              <a:rPr sz="1800" b="1">
                <a:solidFill>
                  <a:srgbClr val="CE9178"/>
                </a:solidFill>
                <a:latin typeface="Calibri"/>
              </a:rPr>
              <a:t>Physicochemical Features (9)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 b="0">
                <a:solidFill>
                  <a:srgbClr val="D4D4D4"/>
                </a:solidFill>
                <a:latin typeface="Calibri"/>
              </a:rPr>
              <a:t>• Grantham distance (amino acid dissimilarity)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 b="0">
                <a:solidFill>
                  <a:srgbClr val="D4D4D4"/>
                </a:solidFill>
                <a:latin typeface="Calibri"/>
              </a:rPr>
              <a:t>• BLOSUM62 substitution score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 b="0">
                <a:solidFill>
                  <a:srgbClr val="D4D4D4"/>
                </a:solidFill>
                <a:latin typeface="Calibri"/>
              </a:rPr>
              <a:t>• Hydrophobicity change (Kyte-Doolittle)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 b="0">
                <a:solidFill>
                  <a:srgbClr val="D4D4D4"/>
                </a:solidFill>
                <a:latin typeface="Calibri"/>
              </a:rPr>
              <a:t>• Charge change (+/−/0)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 b="0">
                <a:solidFill>
                  <a:srgbClr val="D4D4D4"/>
                </a:solidFill>
                <a:latin typeface="Calibri"/>
              </a:rPr>
              <a:t>• Protein length &amp; position in protein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 b="0">
                <a:solidFill>
                  <a:srgbClr val="D4D4D4"/>
                </a:solidFill>
                <a:latin typeface="Calibri"/>
              </a:rPr>
              <a:t>• Cysteine involvement &amp; other descriptors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0" y="4846320"/>
            <a:ext cx="7589520" cy="1371600"/>
          </a:xfrm>
          <a:prstGeom prst="rect">
            <a:avLst/>
          </a:prstGeom>
          <a:solidFill>
            <a:srgbClr val="24243E"/>
          </a:solidFill>
          <a:ln w="25400">
            <a:solidFill>
              <a:srgbClr val="4EC9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  <a:p>
            <a:pPr algn="ctr"/>
            <a:r>
              <a:rPr sz="1800" b="1">
                <a:solidFill>
                  <a:srgbClr val="4EC9B0"/>
                </a:solidFill>
                <a:latin typeface="Calibri"/>
              </a:rPr>
              <a:t>XGBoost Classifier (29 Features → Pathogenic / Benign)</a:t>
            </a:r>
          </a:p>
          <a:p>
            <a:pPr algn="ctr">
              <a:spcBef>
                <a:spcPts val="600"/>
              </a:spcBef>
            </a:pPr>
            <a:r>
              <a:rPr sz="1400" b="0">
                <a:solidFill>
                  <a:srgbClr val="D4D4D4"/>
                </a:solidFill>
                <a:latin typeface="Calibri"/>
              </a:rPr>
              <a:t>RandomizedSearchCV: 80 iterations, 5-fold CV  |  Hyperparameters: max_depth, learning_rate, n_estimators, subsample</a:t>
            </a:r>
          </a:p>
          <a:p>
            <a:pPr algn="ctr">
              <a:spcBef>
                <a:spcPts val="400"/>
              </a:spcBef>
            </a:pPr>
            <a:r>
              <a:rPr sz="1400" b="0">
                <a:solidFill>
                  <a:srgbClr val="D4D4D4"/>
                </a:solidFill>
                <a:latin typeface="Calibri"/>
              </a:rPr>
              <a:t>Output: calibrated pathogenicity probability  →  AUROC evaluation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r"/>
            <a:r>
              <a:rPr sz="1000" b="0">
                <a:solidFill>
                  <a:srgbClr val="808080"/>
                </a:solidFill>
                <a:latin typeface="Calibri"/>
              </a:rPr>
              <a:t>11 / 24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3000" b="1">
                <a:solidFill>
                  <a:srgbClr val="4EC9B0"/>
                </a:solidFill>
                <a:latin typeface="Calibri"/>
              </a:rPr>
              <a:t>Gene-Disjoint Evaluation Protocol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5029200" cy="2011680"/>
          </a:xfrm>
          <a:prstGeom prst="rect">
            <a:avLst/>
          </a:prstGeom>
          <a:solidFill>
            <a:srgbClr val="24243E"/>
          </a:solidFill>
          <a:ln w="25400">
            <a:solidFill>
              <a:srgbClr val="F447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  <a:p>
            <a:pPr algn="l"/>
            <a:r>
              <a:rPr sz="1800" b="1">
                <a:solidFill>
                  <a:srgbClr val="F44747"/>
                </a:solidFill>
                <a:latin typeface="Calibri"/>
              </a:rPr>
              <a:t>❌  Random Split (Leaky)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 b="0">
                <a:solidFill>
                  <a:srgbClr val="D4D4D4"/>
                </a:solidFill>
                <a:latin typeface="Calibri"/>
              </a:rPr>
              <a:t>• Gene A variants in BOTH train and test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 b="0">
                <a:solidFill>
                  <a:srgbClr val="D4D4D4"/>
                </a:solidFill>
                <a:latin typeface="Calibri"/>
              </a:rPr>
              <a:t>• 83% gene overlap between splits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 b="0">
                <a:solidFill>
                  <a:srgbClr val="F44747"/>
                </a:solidFill>
                <a:latin typeface="Calibri"/>
              </a:rPr>
              <a:t>• AUROC inflated by 0.02–0.07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 b="0">
                <a:solidFill>
                  <a:srgbClr val="D4D4D4"/>
                </a:solidFill>
                <a:latin typeface="Calibri"/>
              </a:rPr>
              <a:t>• Model memorizes gene-specific patterns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0" y="1371600"/>
            <a:ext cx="5212080" cy="2011680"/>
          </a:xfrm>
          <a:prstGeom prst="rect">
            <a:avLst/>
          </a:prstGeom>
          <a:solidFill>
            <a:srgbClr val="24243E"/>
          </a:solidFill>
          <a:ln w="25400">
            <a:solidFill>
              <a:srgbClr val="4EC9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  <a:p>
            <a:pPr algn="l"/>
            <a:r>
              <a:rPr sz="1800" b="1">
                <a:solidFill>
                  <a:srgbClr val="4EC9B0"/>
                </a:solidFill>
                <a:latin typeface="Calibri"/>
              </a:rPr>
              <a:t>✓  Gene-Disjoint Split (Correct)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 b="0">
                <a:solidFill>
                  <a:srgbClr val="D4D4D4"/>
                </a:solidFill>
                <a:latin typeface="Calibri"/>
              </a:rPr>
              <a:t>• Gene A appears in ONLY ONE split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 b="1">
                <a:solidFill>
                  <a:srgbClr val="4EC9B0"/>
                </a:solidFill>
                <a:latin typeface="Calibri"/>
              </a:rPr>
              <a:t>• 0% gene overlap (zero leakage)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 b="0">
                <a:solidFill>
                  <a:srgbClr val="D4D4D4"/>
                </a:solidFill>
                <a:latin typeface="Calibri"/>
              </a:rPr>
              <a:t>• Tests true generalization to unseen genes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 b="0">
                <a:solidFill>
                  <a:srgbClr val="D4D4D4"/>
                </a:solidFill>
                <a:latin typeface="Calibri"/>
              </a:rPr>
              <a:t>• Minimal performance drop (&lt; 0.005 AUROC)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40480"/>
            <a:ext cx="106984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400"/>
              </a:spcBef>
            </a:pPr>
            <a:r>
              <a:rPr sz="2200" b="1">
                <a:solidFill>
                  <a:srgbClr val="FFFFFF"/>
                </a:solidFill>
                <a:latin typeface="Calibri"/>
              </a:rPr>
              <a:t>Impact of Gene-Disjoint Splitting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371600" y="4572000"/>
          <a:ext cx="859536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463040"/>
                <a:gridCol w="1371600"/>
                <a:gridCol w="1188720"/>
                <a:gridCol w="1371600"/>
                <a:gridCol w="1371600"/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Split</a:t>
                      </a:r>
                    </a:p>
                  </a:txBody>
                  <a:tcPr anchor="ctr">
                    <a:solidFill>
                      <a:srgbClr val="4EC9B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Train Genes</a:t>
                      </a:r>
                    </a:p>
                  </a:txBody>
                  <a:tcPr anchor="ctr">
                    <a:solidFill>
                      <a:srgbClr val="4EC9B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Test Genes</a:t>
                      </a:r>
                    </a:p>
                  </a:txBody>
                  <a:tcPr anchor="ctr">
                    <a:solidFill>
                      <a:srgbClr val="4EC9B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Overlap</a:t>
                      </a:r>
                    </a:p>
                  </a:txBody>
                  <a:tcPr anchor="ctr">
                    <a:solidFill>
                      <a:srgbClr val="4EC9B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AUROC</a:t>
                      </a:r>
                    </a:p>
                  </a:txBody>
                  <a:tcPr anchor="ctr">
                    <a:solidFill>
                      <a:srgbClr val="4EC9B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MCC</a:t>
                      </a:r>
                    </a:p>
                  </a:txBody>
                  <a:tcPr anchor="ctr">
                    <a:solidFill>
                      <a:srgbClr val="4EC9B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D4D4D4"/>
                          </a:solidFill>
                          <a:latin typeface="Calibri"/>
                        </a:rPr>
                        <a:t>Random (80/20)</a:t>
                      </a:r>
                    </a:p>
                  </a:txBody>
                  <a:tcPr anchor="ctr">
                    <a:solidFill>
                      <a:srgbClr val="1B1B2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D4D4D4"/>
                          </a:solidFill>
                          <a:latin typeface="Calibri"/>
                        </a:rPr>
                        <a:t>5,097</a:t>
                      </a:r>
                    </a:p>
                  </a:txBody>
                  <a:tcPr anchor="ctr">
                    <a:solidFill>
                      <a:srgbClr val="1B1B2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D4D4D4"/>
                          </a:solidFill>
                          <a:latin typeface="Calibri"/>
                        </a:rPr>
                        <a:t>1,274</a:t>
                      </a:r>
                    </a:p>
                  </a:txBody>
                  <a:tcPr anchor="ctr">
                    <a:solidFill>
                      <a:srgbClr val="1B1B2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D4D4D4"/>
                          </a:solidFill>
                          <a:latin typeface="Calibri"/>
                        </a:rPr>
                        <a:t>83%</a:t>
                      </a:r>
                    </a:p>
                  </a:txBody>
                  <a:tcPr anchor="ctr">
                    <a:solidFill>
                      <a:srgbClr val="1B1B2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D4D4D4"/>
                          </a:solidFill>
                          <a:latin typeface="Calibri"/>
                        </a:rPr>
                        <a:t>0.938</a:t>
                      </a:r>
                    </a:p>
                  </a:txBody>
                  <a:tcPr anchor="ctr">
                    <a:solidFill>
                      <a:srgbClr val="1B1B2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D4D4D4"/>
                          </a:solidFill>
                          <a:latin typeface="Calibri"/>
                        </a:rPr>
                        <a:t>0.737</a:t>
                      </a:r>
                    </a:p>
                  </a:txBody>
                  <a:tcPr anchor="ctr">
                    <a:solidFill>
                      <a:srgbClr val="1B1B2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D4D4D4"/>
                          </a:solidFill>
                          <a:latin typeface="Calibri"/>
                        </a:rPr>
                        <a:t>Gene-Disjoint</a:t>
                      </a:r>
                    </a:p>
                  </a:txBody>
                  <a:tcPr anchor="ctr">
                    <a:solidFill>
                      <a:srgbClr val="2A2A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D4D4D4"/>
                          </a:solidFill>
                          <a:latin typeface="Calibri"/>
                        </a:rPr>
                        <a:t>5,096</a:t>
                      </a:r>
                    </a:p>
                  </a:txBody>
                  <a:tcPr anchor="ctr">
                    <a:solidFill>
                      <a:srgbClr val="2A2A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D4D4D4"/>
                          </a:solidFill>
                          <a:latin typeface="Calibri"/>
                        </a:rPr>
                        <a:t>1,275</a:t>
                      </a:r>
                    </a:p>
                  </a:txBody>
                  <a:tcPr anchor="ctr">
                    <a:solidFill>
                      <a:srgbClr val="2A2A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D4D4D4"/>
                          </a:solidFill>
                          <a:latin typeface="Calibri"/>
                        </a:rPr>
                        <a:t>0%</a:t>
                      </a:r>
                    </a:p>
                  </a:txBody>
                  <a:tcPr anchor="ctr">
                    <a:solidFill>
                      <a:srgbClr val="2A2A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D4D4D4"/>
                          </a:solidFill>
                          <a:latin typeface="Calibri"/>
                        </a:rPr>
                        <a:t>0.933</a:t>
                      </a:r>
                    </a:p>
                  </a:txBody>
                  <a:tcPr anchor="ctr">
                    <a:solidFill>
                      <a:srgbClr val="2A2A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D4D4D4"/>
                          </a:solidFill>
                          <a:latin typeface="Calibri"/>
                        </a:rPr>
                        <a:t>0.723</a:t>
                      </a:r>
                    </a:p>
                  </a:txBody>
                  <a:tcPr anchor="ctr">
                    <a:solidFill>
                      <a:srgbClr val="2A2A4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D4D4D4"/>
                          </a:solidFill>
                          <a:latin typeface="Calibri"/>
                        </a:rPr>
                        <a:t>Δ (drop)</a:t>
                      </a:r>
                    </a:p>
                  </a:txBody>
                  <a:tcPr anchor="ctr">
                    <a:solidFill>
                      <a:srgbClr val="1B1B2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D4D4D4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>
                    <a:solidFill>
                      <a:srgbClr val="1B1B2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D4D4D4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>
                    <a:solidFill>
                      <a:srgbClr val="1B1B2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D4D4D4"/>
                          </a:solidFill>
                          <a:latin typeface="Calibri"/>
                        </a:rPr>
                        <a:t>−83%</a:t>
                      </a:r>
                    </a:p>
                  </a:txBody>
                  <a:tcPr anchor="ctr">
                    <a:solidFill>
                      <a:srgbClr val="1B1B2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D4D4D4"/>
                          </a:solidFill>
                          <a:latin typeface="Calibri"/>
                        </a:rPr>
                        <a:t>−0.005</a:t>
                      </a:r>
                    </a:p>
                  </a:txBody>
                  <a:tcPr anchor="ctr">
                    <a:solidFill>
                      <a:srgbClr val="1B1B2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D4D4D4"/>
                          </a:solidFill>
                          <a:latin typeface="Calibri"/>
                        </a:rPr>
                        <a:t>−0.014</a:t>
                      </a:r>
                    </a:p>
                  </a:txBody>
                  <a:tcPr anchor="ctr">
                    <a:solidFill>
                      <a:srgbClr val="1B1B2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r"/>
            <a:r>
              <a:rPr sz="1000" b="0">
                <a:solidFill>
                  <a:srgbClr val="808080"/>
                </a:solidFill>
                <a:latin typeface="Calibri"/>
              </a:rPr>
              <a:t>12 / 24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32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4000" b="1">
                <a:solidFill>
                  <a:srgbClr val="4EC9B0"/>
                </a:solidFill>
                <a:latin typeface="Calibri"/>
              </a:rPr>
              <a:t>Part 5: Main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2000" b="0">
                <a:solidFill>
                  <a:srgbClr val="D4D4D4"/>
                </a:solidFill>
                <a:latin typeface="Calibri"/>
              </a:rPr>
              <a:t>D1/D2 AUROC, ProteinGym, Splice Variants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r"/>
            <a:r>
              <a:rPr sz="1000" b="0">
                <a:solidFill>
                  <a:srgbClr val="808080"/>
                </a:solidFill>
                <a:latin typeface="Calibri"/>
              </a:rPr>
              <a:t>13 / 24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3000" b="1">
                <a:solidFill>
                  <a:srgbClr val="4EC9B0"/>
                </a:solidFill>
                <a:latin typeface="Calibri"/>
              </a:rPr>
              <a:t>ClinVar Missense Variant Classification (D1/D2)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88720"/>
          <a:ext cx="96012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828800"/>
                <a:gridCol w="2103120"/>
                <a:gridCol w="1828800"/>
                <a:gridCol w="1828800"/>
              </a:tblGrid>
              <a:tr h="41910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 anchor="ctr">
                    <a:solidFill>
                      <a:srgbClr val="4EC9B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Type</a:t>
                      </a:r>
                    </a:p>
                  </a:txBody>
                  <a:tcPr anchor="ctr">
                    <a:solidFill>
                      <a:srgbClr val="4EC9B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D1 Gene-Disjoint</a:t>
                      </a:r>
                    </a:p>
                  </a:txBody>
                  <a:tcPr anchor="ctr">
                    <a:solidFill>
                      <a:srgbClr val="4EC9B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D2 Temporal</a:t>
                      </a:r>
                    </a:p>
                  </a:txBody>
                  <a:tcPr anchor="ctr">
                    <a:solidFill>
                      <a:srgbClr val="4EC9B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D1 Random</a:t>
                      </a:r>
                    </a:p>
                  </a:txBody>
                  <a:tcPr anchor="ctr">
                    <a:solidFill>
                      <a:srgbClr val="4EC9B0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4D4D4"/>
                          </a:solidFill>
                          <a:latin typeface="Calibri"/>
                        </a:rPr>
                        <a:t>REVEL</a:t>
                      </a:r>
                    </a:p>
                  </a:txBody>
                  <a:tcPr anchor="ctr">
                    <a:solidFill>
                      <a:srgbClr val="1B1B2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4D4D4"/>
                          </a:solidFill>
                          <a:latin typeface="Calibri"/>
                        </a:rPr>
                        <a:t>Ensemble</a:t>
                      </a:r>
                    </a:p>
                  </a:txBody>
                  <a:tcPr anchor="ctr">
                    <a:solidFill>
                      <a:srgbClr val="1B1B2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4D4D4"/>
                          </a:solidFill>
                          <a:latin typeface="Calibri"/>
                        </a:rPr>
                        <a:t>0.961</a:t>
                      </a:r>
                    </a:p>
                  </a:txBody>
                  <a:tcPr anchor="ctr">
                    <a:solidFill>
                      <a:srgbClr val="1B1B2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4D4D4"/>
                          </a:solidFill>
                          <a:latin typeface="Calibri"/>
                        </a:rPr>
                        <a:t>0.973</a:t>
                      </a:r>
                    </a:p>
                  </a:txBody>
                  <a:tcPr anchor="ctr">
                    <a:solidFill>
                      <a:srgbClr val="1B1B2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4D4D4"/>
                          </a:solidFill>
                          <a:latin typeface="Calibri"/>
                        </a:rPr>
                        <a:t>0.961</a:t>
                      </a:r>
                    </a:p>
                  </a:txBody>
                  <a:tcPr anchor="ctr">
                    <a:solidFill>
                      <a:srgbClr val="1B1B2F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4D4D4"/>
                          </a:solidFill>
                          <a:latin typeface="Calibri"/>
                        </a:rPr>
                        <a:t>AlphaMissense</a:t>
                      </a:r>
                    </a:p>
                  </a:txBody>
                  <a:tcPr anchor="ctr">
                    <a:solidFill>
                      <a:srgbClr val="2A2A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4D4D4"/>
                          </a:solidFill>
                          <a:latin typeface="Calibri"/>
                        </a:rPr>
                        <a:t>Ensemble</a:t>
                      </a:r>
                    </a:p>
                  </a:txBody>
                  <a:tcPr anchor="ctr">
                    <a:solidFill>
                      <a:srgbClr val="2A2A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4D4D4"/>
                          </a:solidFill>
                          <a:latin typeface="Calibri"/>
                        </a:rPr>
                        <a:t>0.948</a:t>
                      </a:r>
                    </a:p>
                  </a:txBody>
                  <a:tcPr anchor="ctr">
                    <a:solidFill>
                      <a:srgbClr val="2A2A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4D4D4"/>
                          </a:solidFill>
                          <a:latin typeface="Calibri"/>
                        </a:rPr>
                        <a:t>0.952</a:t>
                      </a:r>
                    </a:p>
                  </a:txBody>
                  <a:tcPr anchor="ctr">
                    <a:solidFill>
                      <a:srgbClr val="2A2A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4D4D4"/>
                          </a:solidFill>
                          <a:latin typeface="Calibri"/>
                        </a:rPr>
                        <a:t>0.948</a:t>
                      </a:r>
                    </a:p>
                  </a:txBody>
                  <a:tcPr anchor="ctr">
                    <a:solidFill>
                      <a:srgbClr val="2A2A44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4D4D4"/>
                          </a:solidFill>
                          <a:latin typeface="Calibri"/>
                        </a:rPr>
                        <a:t>ESM-1b</a:t>
                      </a:r>
                    </a:p>
                  </a:txBody>
                  <a:tcPr anchor="ctr">
                    <a:solidFill>
                      <a:srgbClr val="1B1B2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4D4D4"/>
                          </a:solidFill>
                          <a:latin typeface="Calibri"/>
                        </a:rPr>
                        <a:t>Protein MLM</a:t>
                      </a:r>
                    </a:p>
                  </a:txBody>
                  <a:tcPr anchor="ctr">
                    <a:solidFill>
                      <a:srgbClr val="1B1B2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4D4D4"/>
                          </a:solidFill>
                          <a:latin typeface="Calibri"/>
                        </a:rPr>
                        <a:t>0.882</a:t>
                      </a:r>
                    </a:p>
                  </a:txBody>
                  <a:tcPr anchor="ctr">
                    <a:solidFill>
                      <a:srgbClr val="1B1B2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4D4D4"/>
                          </a:solidFill>
                          <a:latin typeface="Calibri"/>
                        </a:rPr>
                        <a:t>0.903</a:t>
                      </a:r>
                    </a:p>
                  </a:txBody>
                  <a:tcPr anchor="ctr">
                    <a:solidFill>
                      <a:srgbClr val="1B1B2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4D4D4"/>
                          </a:solidFill>
                          <a:latin typeface="Calibri"/>
                        </a:rPr>
                        <a:t>0.886</a:t>
                      </a:r>
                    </a:p>
                  </a:txBody>
                  <a:tcPr anchor="ctr">
                    <a:solidFill>
                      <a:srgbClr val="1B1B2F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4D4D4"/>
                          </a:solidFill>
                          <a:latin typeface="Calibri"/>
                        </a:rPr>
                        <a:t>ESM-1v</a:t>
                      </a:r>
                    </a:p>
                  </a:txBody>
                  <a:tcPr anchor="ctr">
                    <a:solidFill>
                      <a:srgbClr val="2A2A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4D4D4"/>
                          </a:solidFill>
                          <a:latin typeface="Calibri"/>
                        </a:rPr>
                        <a:t>Protein MLM</a:t>
                      </a:r>
                    </a:p>
                  </a:txBody>
                  <a:tcPr anchor="ctr">
                    <a:solidFill>
                      <a:srgbClr val="2A2A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4D4D4"/>
                          </a:solidFill>
                          <a:latin typeface="Calibri"/>
                        </a:rPr>
                        <a:t>0.873</a:t>
                      </a:r>
                    </a:p>
                  </a:txBody>
                  <a:tcPr anchor="ctr">
                    <a:solidFill>
                      <a:srgbClr val="2A2A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4D4D4"/>
                          </a:solidFill>
                          <a:latin typeface="Calibri"/>
                        </a:rPr>
                        <a:t>0.888</a:t>
                      </a:r>
                    </a:p>
                  </a:txBody>
                  <a:tcPr anchor="ctr">
                    <a:solidFill>
                      <a:srgbClr val="2A2A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4D4D4"/>
                          </a:solidFill>
                          <a:latin typeface="Calibri"/>
                        </a:rPr>
                        <a:t>0.874</a:t>
                      </a:r>
                    </a:p>
                  </a:txBody>
                  <a:tcPr anchor="ctr">
                    <a:solidFill>
                      <a:srgbClr val="2A2A44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4D4D4"/>
                          </a:solidFill>
                          <a:latin typeface="Calibri"/>
                        </a:rPr>
                        <a:t>ProtBERT</a:t>
                      </a:r>
                    </a:p>
                  </a:txBody>
                  <a:tcPr anchor="ctr">
                    <a:solidFill>
                      <a:srgbClr val="1B1B2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4D4D4"/>
                          </a:solidFill>
                          <a:latin typeface="Calibri"/>
                        </a:rPr>
                        <a:t>Protein MLM</a:t>
                      </a:r>
                    </a:p>
                  </a:txBody>
                  <a:tcPr anchor="ctr">
                    <a:solidFill>
                      <a:srgbClr val="1B1B2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4D4D4"/>
                          </a:solidFill>
                          <a:latin typeface="Calibri"/>
                        </a:rPr>
                        <a:t>0.857</a:t>
                      </a:r>
                    </a:p>
                  </a:txBody>
                  <a:tcPr anchor="ctr">
                    <a:solidFill>
                      <a:srgbClr val="1B1B2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4D4D4"/>
                          </a:solidFill>
                          <a:latin typeface="Calibri"/>
                        </a:rPr>
                        <a:t>0.862</a:t>
                      </a:r>
                    </a:p>
                  </a:txBody>
                  <a:tcPr anchor="ctr">
                    <a:solidFill>
                      <a:srgbClr val="1B1B2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4D4D4"/>
                          </a:solidFill>
                          <a:latin typeface="Calibri"/>
                        </a:rPr>
                        <a:t>0.848</a:t>
                      </a:r>
                    </a:p>
                  </a:txBody>
                  <a:tcPr anchor="ctr">
                    <a:solidFill>
                      <a:srgbClr val="1B1B2F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4D4D4"/>
                          </a:solidFill>
                          <a:latin typeface="Calibri"/>
                        </a:rPr>
                        <a:t>ESM-2</a:t>
                      </a:r>
                    </a:p>
                  </a:txBody>
                  <a:tcPr anchor="ctr">
                    <a:solidFill>
                      <a:srgbClr val="2A2A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4D4D4"/>
                          </a:solidFill>
                          <a:latin typeface="Calibri"/>
                        </a:rPr>
                        <a:t>Protein MLM</a:t>
                      </a:r>
                    </a:p>
                  </a:txBody>
                  <a:tcPr anchor="ctr">
                    <a:solidFill>
                      <a:srgbClr val="2A2A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4D4D4"/>
                          </a:solidFill>
                          <a:latin typeface="Calibri"/>
                        </a:rPr>
                        <a:t>0.844</a:t>
                      </a:r>
                    </a:p>
                  </a:txBody>
                  <a:tcPr anchor="ctr">
                    <a:solidFill>
                      <a:srgbClr val="2A2A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4D4D4"/>
                          </a:solidFill>
                          <a:latin typeface="Calibri"/>
                        </a:rPr>
                        <a:t>0.864</a:t>
                      </a:r>
                    </a:p>
                  </a:txBody>
                  <a:tcPr anchor="ctr">
                    <a:solidFill>
                      <a:srgbClr val="2A2A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4D4D4"/>
                          </a:solidFill>
                          <a:latin typeface="Calibri"/>
                        </a:rPr>
                        <a:t>0.848</a:t>
                      </a:r>
                    </a:p>
                  </a:txBody>
                  <a:tcPr anchor="ctr">
                    <a:solidFill>
                      <a:srgbClr val="2A2A44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4D4D4"/>
                          </a:solidFill>
                          <a:latin typeface="Calibri"/>
                        </a:rPr>
                        <a:t>EVO2-7B</a:t>
                      </a:r>
                    </a:p>
                  </a:txBody>
                  <a:tcPr anchor="ctr">
                    <a:solidFill>
                      <a:srgbClr val="1B1B2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4D4D4"/>
                          </a:solidFill>
                          <a:latin typeface="Calibri"/>
                        </a:rPr>
                        <a:t>Nucleotide PLL</a:t>
                      </a:r>
                    </a:p>
                  </a:txBody>
                  <a:tcPr anchor="ctr">
                    <a:solidFill>
                      <a:srgbClr val="1B1B2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4D4D4"/>
                          </a:solidFill>
                          <a:latin typeface="Calibri"/>
                        </a:rPr>
                        <a:t>0.836</a:t>
                      </a:r>
                    </a:p>
                  </a:txBody>
                  <a:tcPr anchor="ctr">
                    <a:solidFill>
                      <a:srgbClr val="1B1B2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4D4D4"/>
                          </a:solidFill>
                          <a:latin typeface="Calibri"/>
                        </a:rPr>
                        <a:t>0.830</a:t>
                      </a:r>
                    </a:p>
                  </a:txBody>
                  <a:tcPr anchor="ctr">
                    <a:solidFill>
                      <a:srgbClr val="1B1B2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4D4D4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>
                    <a:solidFill>
                      <a:srgbClr val="1B1B2F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4D4D4"/>
                          </a:solidFill>
                          <a:latin typeface="Calibri"/>
                        </a:rPr>
                        <a:t>ESM-3</a:t>
                      </a:r>
                    </a:p>
                  </a:txBody>
                  <a:tcPr anchor="ctr">
                    <a:solidFill>
                      <a:srgbClr val="2A2A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4D4D4"/>
                          </a:solidFill>
                          <a:latin typeface="Calibri"/>
                        </a:rPr>
                        <a:t>Protein MLM</a:t>
                      </a:r>
                    </a:p>
                  </a:txBody>
                  <a:tcPr anchor="ctr">
                    <a:solidFill>
                      <a:srgbClr val="2A2A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4D4D4"/>
                          </a:solidFill>
                          <a:latin typeface="Calibri"/>
                        </a:rPr>
                        <a:t>0.833</a:t>
                      </a:r>
                    </a:p>
                  </a:txBody>
                  <a:tcPr anchor="ctr">
                    <a:solidFill>
                      <a:srgbClr val="2A2A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4D4D4"/>
                          </a:solidFill>
                          <a:latin typeface="Calibri"/>
                        </a:rPr>
                        <a:t>0.848</a:t>
                      </a:r>
                    </a:p>
                  </a:txBody>
                  <a:tcPr anchor="ctr">
                    <a:solidFill>
                      <a:srgbClr val="2A2A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4D4D4"/>
                          </a:solidFill>
                          <a:latin typeface="Calibri"/>
                        </a:rPr>
                        <a:t>0.830</a:t>
                      </a:r>
                    </a:p>
                  </a:txBody>
                  <a:tcPr anchor="ctr">
                    <a:solidFill>
                      <a:srgbClr val="2A2A44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4D4D4"/>
                          </a:solidFill>
                          <a:latin typeface="Calibri"/>
                        </a:rPr>
                        <a:t>ProtBERT</a:t>
                      </a:r>
                    </a:p>
                  </a:txBody>
                  <a:tcPr anchor="ctr">
                    <a:solidFill>
                      <a:srgbClr val="1B1B2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4D4D4"/>
                          </a:solidFill>
                          <a:latin typeface="Calibri"/>
                        </a:rPr>
                        <a:t>Protein Cos</a:t>
                      </a:r>
                    </a:p>
                  </a:txBody>
                  <a:tcPr anchor="ctr">
                    <a:solidFill>
                      <a:srgbClr val="1B1B2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4D4D4"/>
                          </a:solidFill>
                          <a:latin typeface="Calibri"/>
                        </a:rPr>
                        <a:t>0.779</a:t>
                      </a:r>
                    </a:p>
                  </a:txBody>
                  <a:tcPr anchor="ctr">
                    <a:solidFill>
                      <a:srgbClr val="1B1B2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4D4D4"/>
                          </a:solidFill>
                          <a:latin typeface="Calibri"/>
                        </a:rPr>
                        <a:t>0.772</a:t>
                      </a:r>
                    </a:p>
                  </a:txBody>
                  <a:tcPr anchor="ctr">
                    <a:solidFill>
                      <a:srgbClr val="1B1B2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4D4D4"/>
                          </a:solidFill>
                          <a:latin typeface="Calibri"/>
                        </a:rPr>
                        <a:t>0.763</a:t>
                      </a:r>
                    </a:p>
                  </a:txBody>
                  <a:tcPr anchor="ctr">
                    <a:solidFill>
                      <a:srgbClr val="1B1B2F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4D4D4"/>
                          </a:solidFill>
                          <a:latin typeface="Calibri"/>
                        </a:rPr>
                        <a:t>NT-v2</a:t>
                      </a:r>
                    </a:p>
                  </a:txBody>
                  <a:tcPr anchor="ctr">
                    <a:solidFill>
                      <a:srgbClr val="2A2A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4D4D4"/>
                          </a:solidFill>
                          <a:latin typeface="Calibri"/>
                        </a:rPr>
                        <a:t>Nucleotide MLM</a:t>
                      </a:r>
                    </a:p>
                  </a:txBody>
                  <a:tcPr anchor="ctr">
                    <a:solidFill>
                      <a:srgbClr val="2A2A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4D4D4"/>
                          </a:solidFill>
                          <a:latin typeface="Calibri"/>
                        </a:rPr>
                        <a:t>0.639</a:t>
                      </a:r>
                    </a:p>
                  </a:txBody>
                  <a:tcPr anchor="ctr">
                    <a:solidFill>
                      <a:srgbClr val="2A2A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4D4D4"/>
                          </a:solidFill>
                          <a:latin typeface="Calibri"/>
                        </a:rPr>
                        <a:t>0.610</a:t>
                      </a:r>
                    </a:p>
                  </a:txBody>
                  <a:tcPr anchor="ctr">
                    <a:solidFill>
                      <a:srgbClr val="2A2A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4D4D4"/>
                          </a:solidFill>
                          <a:latin typeface="Calibri"/>
                        </a:rPr>
                        <a:t>0.637</a:t>
                      </a:r>
                    </a:p>
                  </a:txBody>
                  <a:tcPr anchor="ctr">
                    <a:solidFill>
                      <a:srgbClr val="2A2A44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4D4D4"/>
                          </a:solidFill>
                          <a:latin typeface="Calibri"/>
                        </a:rPr>
                        <a:t>ProtT5, Ankh, etc.</a:t>
                      </a:r>
                    </a:p>
                  </a:txBody>
                  <a:tcPr anchor="ctr">
                    <a:solidFill>
                      <a:srgbClr val="1B1B2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4D4D4"/>
                          </a:solidFill>
                          <a:latin typeface="Calibri"/>
                        </a:rPr>
                        <a:t>Various</a:t>
                      </a:r>
                    </a:p>
                  </a:txBody>
                  <a:tcPr anchor="ctr">
                    <a:solidFill>
                      <a:srgbClr val="1B1B2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4D4D4"/>
                          </a:solidFill>
                          <a:latin typeface="Calibri"/>
                        </a:rPr>
                        <a:t>~0.50</a:t>
                      </a:r>
                    </a:p>
                  </a:txBody>
                  <a:tcPr anchor="ctr">
                    <a:solidFill>
                      <a:srgbClr val="1B1B2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4D4D4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>
                    <a:solidFill>
                      <a:srgbClr val="1B1B2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4D4D4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>
                    <a:solidFill>
                      <a:srgbClr val="1B1B2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62179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/>
            <a:r>
              <a:rPr sz="1400" b="1">
                <a:solidFill>
                  <a:srgbClr val="4EC9B0"/>
                </a:solidFill>
                <a:latin typeface="Calibri"/>
              </a:rPr>
              <a:t>Best protein: ESM-1b (0.882)  |  Best nucleotide: EVO2-7B (0.836)  |  External: AlphaMissense (0.948)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r"/>
            <a:r>
              <a:rPr sz="1000" b="0">
                <a:solidFill>
                  <a:srgbClr val="808080"/>
                </a:solidFill>
                <a:latin typeface="Calibri"/>
              </a:rPr>
              <a:t>14 / 24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3000" b="1">
                <a:solidFill>
                  <a:srgbClr val="4EC9B0"/>
                </a:solidFill>
                <a:latin typeface="Calibri"/>
              </a:rPr>
              <a:t>Meta-Learner Fusion Results (Gene-Disjoint)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188720"/>
          <a:ext cx="82296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1371600"/>
                <a:gridCol w="1828800"/>
                <a:gridCol w="1828800"/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Configuration</a:t>
                      </a:r>
                    </a:p>
                  </a:txBody>
                  <a:tcPr anchor="ctr">
                    <a:solidFill>
                      <a:srgbClr val="4EC9B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Features</a:t>
                      </a:r>
                    </a:p>
                  </a:txBody>
                  <a:tcPr anchor="ctr">
                    <a:solidFill>
                      <a:srgbClr val="4EC9B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AUROC</a:t>
                      </a:r>
                    </a:p>
                  </a:txBody>
                  <a:tcPr anchor="ctr">
                    <a:solidFill>
                      <a:srgbClr val="4EC9B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MCC</a:t>
                      </a:r>
                    </a:p>
                  </a:txBody>
                  <a:tcPr anchor="ctr">
                    <a:solidFill>
                      <a:srgbClr val="4EC9B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D4D4D4"/>
                          </a:solidFill>
                          <a:latin typeface="Calibri"/>
                        </a:rPr>
                        <a:t>Best Single (ESM-1b MLM)</a:t>
                      </a:r>
                    </a:p>
                  </a:txBody>
                  <a:tcPr anchor="ctr">
                    <a:solidFill>
                      <a:srgbClr val="1B1B2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D4D4D4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>
                    <a:solidFill>
                      <a:srgbClr val="1B1B2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D4D4D4"/>
                          </a:solidFill>
                          <a:latin typeface="Calibri"/>
                        </a:rPr>
                        <a:t>0.881</a:t>
                      </a:r>
                    </a:p>
                  </a:txBody>
                  <a:tcPr anchor="ctr">
                    <a:solidFill>
                      <a:srgbClr val="1B1B2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D4D4D4"/>
                          </a:solidFill>
                          <a:latin typeface="Calibri"/>
                        </a:rPr>
                        <a:t>0.608</a:t>
                      </a:r>
                    </a:p>
                  </a:txBody>
                  <a:tcPr anchor="ctr">
                    <a:solidFill>
                      <a:srgbClr val="1B1B2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D4D4D4"/>
                          </a:solidFill>
                          <a:latin typeface="Calibri"/>
                        </a:rPr>
                        <a:t>Protein MLM Only</a:t>
                      </a:r>
                    </a:p>
                  </a:txBody>
                  <a:tcPr anchor="ctr">
                    <a:solidFill>
                      <a:srgbClr val="2A2A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D4D4D4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anchor="ctr">
                    <a:solidFill>
                      <a:srgbClr val="2A2A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D4D4D4"/>
                          </a:solidFill>
                          <a:latin typeface="Calibri"/>
                        </a:rPr>
                        <a:t>0.910</a:t>
                      </a:r>
                    </a:p>
                  </a:txBody>
                  <a:tcPr anchor="ctr">
                    <a:solidFill>
                      <a:srgbClr val="2A2A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D4D4D4"/>
                          </a:solidFill>
                          <a:latin typeface="Calibri"/>
                        </a:rPr>
                        <a:t>0.665</a:t>
                      </a:r>
                    </a:p>
                  </a:txBody>
                  <a:tcPr anchor="ctr">
                    <a:solidFill>
                      <a:srgbClr val="2A2A4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D4D4D4"/>
                          </a:solidFill>
                          <a:latin typeface="Calibri"/>
                        </a:rPr>
                        <a:t>All Protein (MLM + Cosine)</a:t>
                      </a:r>
                    </a:p>
                  </a:txBody>
                  <a:tcPr anchor="ctr">
                    <a:solidFill>
                      <a:srgbClr val="1B1B2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D4D4D4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 anchor="ctr">
                    <a:solidFill>
                      <a:srgbClr val="1B1B2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D4D4D4"/>
                          </a:solidFill>
                          <a:latin typeface="Calibri"/>
                        </a:rPr>
                        <a:t>0.924</a:t>
                      </a:r>
                    </a:p>
                  </a:txBody>
                  <a:tcPr anchor="ctr">
                    <a:solidFill>
                      <a:srgbClr val="1B1B2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D4D4D4"/>
                          </a:solidFill>
                          <a:latin typeface="Calibri"/>
                        </a:rPr>
                        <a:t>0.698</a:t>
                      </a:r>
                    </a:p>
                  </a:txBody>
                  <a:tcPr anchor="ctr">
                    <a:solidFill>
                      <a:srgbClr val="1B1B2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D4D4D4"/>
                          </a:solidFill>
                          <a:latin typeface="Calibri"/>
                        </a:rPr>
                        <a:t>Nucleotide MLM Only</a:t>
                      </a:r>
                    </a:p>
                  </a:txBody>
                  <a:tcPr anchor="ctr">
                    <a:solidFill>
                      <a:srgbClr val="2A2A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D4D4D4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anchor="ctr">
                    <a:solidFill>
                      <a:srgbClr val="2A2A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D4D4D4"/>
                          </a:solidFill>
                          <a:latin typeface="Calibri"/>
                        </a:rPr>
                        <a:t>0.650</a:t>
                      </a:r>
                    </a:p>
                  </a:txBody>
                  <a:tcPr anchor="ctr">
                    <a:solidFill>
                      <a:srgbClr val="2A2A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D4D4D4"/>
                          </a:solidFill>
                          <a:latin typeface="Calibri"/>
                        </a:rPr>
                        <a:t>0.201</a:t>
                      </a:r>
                    </a:p>
                  </a:txBody>
                  <a:tcPr anchor="ctr">
                    <a:solidFill>
                      <a:srgbClr val="2A2A4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D4D4D4"/>
                          </a:solidFill>
                          <a:latin typeface="Calibri"/>
                        </a:rPr>
                        <a:t>All Nucleotide (MLM + Cosine)</a:t>
                      </a:r>
                    </a:p>
                  </a:txBody>
                  <a:tcPr anchor="ctr">
                    <a:solidFill>
                      <a:srgbClr val="1B1B2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D4D4D4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anchor="ctr">
                    <a:solidFill>
                      <a:srgbClr val="1B1B2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D4D4D4"/>
                          </a:solidFill>
                          <a:latin typeface="Calibri"/>
                        </a:rPr>
                        <a:t>0.699</a:t>
                      </a:r>
                    </a:p>
                  </a:txBody>
                  <a:tcPr anchor="ctr">
                    <a:solidFill>
                      <a:srgbClr val="1B1B2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D4D4D4"/>
                          </a:solidFill>
                          <a:latin typeface="Calibri"/>
                        </a:rPr>
                        <a:t>0.280</a:t>
                      </a:r>
                    </a:p>
                  </a:txBody>
                  <a:tcPr anchor="ctr">
                    <a:solidFill>
                      <a:srgbClr val="1B1B2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D4D4D4"/>
                          </a:solidFill>
                          <a:latin typeface="Calibri"/>
                        </a:rPr>
                        <a:t>All Foundation Models</a:t>
                      </a:r>
                    </a:p>
                  </a:txBody>
                  <a:tcPr anchor="ctr">
                    <a:solidFill>
                      <a:srgbClr val="2A2A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D4D4D4"/>
                          </a:solidFill>
                          <a:latin typeface="Calibri"/>
                        </a:rPr>
                        <a:t>20</a:t>
                      </a:r>
                    </a:p>
                  </a:txBody>
                  <a:tcPr anchor="ctr">
                    <a:solidFill>
                      <a:srgbClr val="2A2A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D4D4D4"/>
                          </a:solidFill>
                          <a:latin typeface="Calibri"/>
                        </a:rPr>
                        <a:t>0.928</a:t>
                      </a:r>
                    </a:p>
                  </a:txBody>
                  <a:tcPr anchor="ctr">
                    <a:solidFill>
                      <a:srgbClr val="2A2A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D4D4D4"/>
                          </a:solidFill>
                          <a:latin typeface="Calibri"/>
                        </a:rPr>
                        <a:t>0.707</a:t>
                      </a:r>
                    </a:p>
                  </a:txBody>
                  <a:tcPr anchor="ctr">
                    <a:solidFill>
                      <a:srgbClr val="2A2A4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D4D4D4"/>
                          </a:solidFill>
                          <a:latin typeface="Calibri"/>
                        </a:rPr>
                        <a:t>Foundation + Physicochemical</a:t>
                      </a:r>
                    </a:p>
                  </a:txBody>
                  <a:tcPr anchor="ctr">
                    <a:solidFill>
                      <a:srgbClr val="1B1B2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D4D4D4"/>
                          </a:solidFill>
                          <a:latin typeface="Calibri"/>
                        </a:rPr>
                        <a:t>23</a:t>
                      </a:r>
                    </a:p>
                  </a:txBody>
                  <a:tcPr anchor="ctr">
                    <a:solidFill>
                      <a:srgbClr val="1B1B2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D4D4D4"/>
                          </a:solidFill>
                          <a:latin typeface="Calibri"/>
                        </a:rPr>
                        <a:t>0.931</a:t>
                      </a:r>
                    </a:p>
                  </a:txBody>
                  <a:tcPr anchor="ctr">
                    <a:solidFill>
                      <a:srgbClr val="1B1B2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D4D4D4"/>
                          </a:solidFill>
                          <a:latin typeface="Calibri"/>
                        </a:rPr>
                        <a:t>0.715</a:t>
                      </a:r>
                    </a:p>
                  </a:txBody>
                  <a:tcPr anchor="ctr">
                    <a:solidFill>
                      <a:srgbClr val="1B1B2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D4D4D4"/>
                          </a:solidFill>
                          <a:latin typeface="Calibri"/>
                        </a:rPr>
                        <a:t>Meta-Learner (Full)</a:t>
                      </a:r>
                    </a:p>
                  </a:txBody>
                  <a:tcPr anchor="ctr">
                    <a:solidFill>
                      <a:srgbClr val="2A2A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D4D4D4"/>
                          </a:solidFill>
                          <a:latin typeface="Calibri"/>
                        </a:rPr>
                        <a:t>29</a:t>
                      </a:r>
                    </a:p>
                  </a:txBody>
                  <a:tcPr anchor="ctr">
                    <a:solidFill>
                      <a:srgbClr val="2A2A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D4D4D4"/>
                          </a:solidFill>
                          <a:latin typeface="Calibri"/>
                        </a:rPr>
                        <a:t>0.933</a:t>
                      </a:r>
                    </a:p>
                  </a:txBody>
                  <a:tcPr anchor="ctr">
                    <a:solidFill>
                      <a:srgbClr val="2A2A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D4D4D4"/>
                          </a:solidFill>
                          <a:latin typeface="Calibri"/>
                        </a:rPr>
                        <a:t>0.723</a:t>
                      </a:r>
                    </a:p>
                  </a:txBody>
                  <a:tcPr anchor="ctr">
                    <a:solidFill>
                      <a:srgbClr val="2A2A4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D4D4D4"/>
                          </a:solidFill>
                          <a:latin typeface="Calibri"/>
                        </a:rPr>
                        <a:t>AlphaMissense (External)</a:t>
                      </a:r>
                    </a:p>
                  </a:txBody>
                  <a:tcPr anchor="ctr">
                    <a:solidFill>
                      <a:srgbClr val="1B1B2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D4D4D4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>
                    <a:solidFill>
                      <a:srgbClr val="1B1B2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D4D4D4"/>
                          </a:solidFill>
                          <a:latin typeface="Calibri"/>
                        </a:rPr>
                        <a:t>0.948</a:t>
                      </a:r>
                    </a:p>
                  </a:txBody>
                  <a:tcPr anchor="ctr">
                    <a:solidFill>
                      <a:srgbClr val="1B1B2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D4D4D4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>
                    <a:solidFill>
                      <a:srgbClr val="1B1B2F"/>
                    </a:solidFill>
                  </a:tcPr>
                </a:tc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1371600" y="5486400"/>
            <a:ext cx="9418320" cy="914400"/>
          </a:xfrm>
          <a:prstGeom prst="rect">
            <a:avLst/>
          </a:prstGeom>
          <a:solidFill>
            <a:srgbClr val="1A3A2A"/>
          </a:solidFill>
          <a:ln w="25400">
            <a:solidFill>
              <a:srgbClr val="4EC9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  <a:p>
            <a:pPr algn="ctr"/>
            <a:r>
              <a:rPr sz="1800" b="1">
                <a:solidFill>
                  <a:srgbClr val="4EC9B0"/>
                </a:solidFill>
                <a:latin typeface="Calibri"/>
              </a:rPr>
              <a:t>Key Result: AUROC 0.933 — within 1.5% of AlphaMissense (0.948) without population frequency data</a:t>
            </a:r>
          </a:p>
          <a:p>
            <a:pPr algn="ctr">
              <a:spcBef>
                <a:spcPts val="400"/>
              </a:spcBef>
            </a:pPr>
            <a:r>
              <a:rPr sz="1400" b="0">
                <a:solidFill>
                  <a:srgbClr val="D4D4D4"/>
                </a:solidFill>
                <a:latin typeface="Calibri"/>
              </a:rPr>
              <a:t>Adding nucleotide scores to protein-only yields +0.005 AUROC  |  ESM-1b alone = 0.881 → Meta-Learner = 0.933 (+5.2%)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r"/>
            <a:r>
              <a:rPr sz="1000" b="0">
                <a:solidFill>
                  <a:srgbClr val="808080"/>
                </a:solidFill>
                <a:latin typeface="Calibri"/>
              </a:rPr>
              <a:t>15 / 24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3000" b="1">
                <a:solidFill>
                  <a:srgbClr val="4EC9B0"/>
                </a:solidFill>
                <a:latin typeface="Calibri"/>
              </a:rPr>
              <a:t>Meta-Learner V2: EVO2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400"/>
              </a:spcBef>
            </a:pPr>
            <a:r>
              <a:rPr sz="2200" b="1">
                <a:solidFill>
                  <a:srgbClr val="569CD6"/>
                </a:solidFill>
                <a:latin typeface="Calibri"/>
              </a:rPr>
              <a:t>Why V2?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600" b="0">
                <a:solidFill>
                  <a:srgbClr val="D4D4D4"/>
                </a:solidFill>
                <a:latin typeface="Calibri"/>
              </a:rPr>
              <a:t>• V1 used 20 foundation model scores — EVO2 was not included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600" b="0">
                <a:solidFill>
                  <a:srgbClr val="D4D4D4"/>
                </a:solidFill>
                <a:latin typeface="Calibri"/>
              </a:rPr>
              <a:t>• V2 explicitly adds EVO2-7B log-likelihood ratio score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800" b="0">
                <a:solidFill>
                  <a:srgbClr val="D4D4D4"/>
                </a:solidFill>
                <a:latin typeface="Calibri"/>
              </a:rPr>
              <a:t>• </a:t>
            </a:r>
          </a:p>
          <a:p>
            <a:pPr algn="l">
              <a:spcBef>
                <a:spcPts val="400"/>
              </a:spcBef>
            </a:pPr>
            <a:r>
              <a:rPr sz="2200" b="1">
                <a:solidFill>
                  <a:srgbClr val="569CD6"/>
                </a:solidFill>
                <a:latin typeface="Calibri"/>
              </a:rPr>
              <a:t>V2 Feature Sets Tested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600" b="0">
                <a:solidFill>
                  <a:srgbClr val="D4D4D4"/>
                </a:solidFill>
                <a:latin typeface="Calibri"/>
              </a:rPr>
              <a:t>• esm1b_only: ESM-1b MLM score alone → D1 AUROC 0.8814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600" b="0">
                <a:solidFill>
                  <a:srgbClr val="D4D4D4"/>
                </a:solidFill>
                <a:latin typeface="Calibri"/>
              </a:rPr>
              <a:t>• evo2_only: EVO2-7B PLL score alone → D1 AUROC 0.8189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600" b="0">
                <a:solidFill>
                  <a:srgbClr val="D4D4D4"/>
                </a:solidFill>
                <a:latin typeface="Calibri"/>
              </a:rPr>
              <a:t>• phys_only: Grantham + BLOSUM62 + hydrophobicity + charge + position → D1 AUROC 0.7085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600" b="1">
                <a:solidFill>
                  <a:srgbClr val="4EC9B0"/>
                </a:solidFill>
                <a:latin typeface="Calibri"/>
              </a:rPr>
              <a:t>• esm1b_evo2_phys: ESM-1b + EVO2 + physicochemical → D1 AUROC 0.9188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800" b="0">
                <a:solidFill>
                  <a:srgbClr val="D4D4D4"/>
                </a:solidFill>
                <a:latin typeface="Calibri"/>
              </a:rPr>
              <a:t>• </a:t>
            </a:r>
          </a:p>
          <a:p>
            <a:pPr algn="l">
              <a:spcBef>
                <a:spcPts val="400"/>
              </a:spcBef>
            </a:pPr>
            <a:r>
              <a:rPr sz="2200" b="1">
                <a:solidFill>
                  <a:srgbClr val="569CD6"/>
                </a:solidFill>
                <a:latin typeface="Calibri"/>
              </a:rPr>
              <a:t>Key Findings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600" b="0">
                <a:solidFill>
                  <a:srgbClr val="4EC9B0"/>
                </a:solidFill>
                <a:latin typeface="Calibri"/>
              </a:rPr>
              <a:t>• EVO2 adds +3.7% AUROC over ESM-1b alone (0.881 → 0.919)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600" b="0">
                <a:solidFill>
                  <a:srgbClr val="D4D4D4"/>
                </a:solidFill>
                <a:latin typeface="Calibri"/>
              </a:rPr>
              <a:t>• EVO2 encodes non-redundant splice/regulatory signals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600" b="0">
                <a:solidFill>
                  <a:srgbClr val="D4D4D4"/>
                </a:solidFill>
                <a:latin typeface="Calibri"/>
              </a:rPr>
              <a:t>• Physicochemical features add modest boost (+0.003)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600" b="0">
                <a:solidFill>
                  <a:srgbClr val="D4D4D4"/>
                </a:solidFill>
                <a:latin typeface="Calibri"/>
              </a:rPr>
              <a:t>• Combined V2 approaches V1 performance with fewer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r"/>
            <a:r>
              <a:rPr sz="1000" b="0">
                <a:solidFill>
                  <a:srgbClr val="808080"/>
                </a:solidFill>
                <a:latin typeface="Calibri"/>
              </a:rPr>
              <a:t>16 / 24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3000" b="1">
                <a:solidFill>
                  <a:srgbClr val="4EC9B0"/>
                </a:solidFill>
                <a:latin typeface="Calibri"/>
              </a:rPr>
              <a:t>ProteinGym DMS: Zero-Shot Fitness Prediction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188720"/>
          <a:ext cx="621792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188720"/>
                <a:gridCol w="1371600"/>
                <a:gridCol w="1645920"/>
              </a:tblGrid>
              <a:tr h="42672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 anchor="ctr">
                    <a:solidFill>
                      <a:srgbClr val="4EC9B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Mean ρ</a:t>
                      </a:r>
                    </a:p>
                  </a:txBody>
                  <a:tcPr anchor="ctr">
                    <a:solidFill>
                      <a:srgbClr val="4EC9B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Sig. Assays</a:t>
                      </a:r>
                    </a:p>
                  </a:txBody>
                  <a:tcPr anchor="ctr">
                    <a:solidFill>
                      <a:srgbClr val="4EC9B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Type</a:t>
                      </a:r>
                    </a:p>
                  </a:txBody>
                  <a:tcPr anchor="ctr">
                    <a:solidFill>
                      <a:srgbClr val="4EC9B0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D4D4D4"/>
                          </a:solidFill>
                          <a:latin typeface="Calibri"/>
                        </a:rPr>
                        <a:t>ESM-1b MLM</a:t>
                      </a:r>
                    </a:p>
                  </a:txBody>
                  <a:tcPr anchor="ctr">
                    <a:solidFill>
                      <a:srgbClr val="1B1B2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D4D4D4"/>
                          </a:solidFill>
                          <a:latin typeface="Calibri"/>
                        </a:rPr>
                        <a:t>0.321</a:t>
                      </a:r>
                    </a:p>
                  </a:txBody>
                  <a:tcPr anchor="ctr">
                    <a:solidFill>
                      <a:srgbClr val="1B1B2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D4D4D4"/>
                          </a:solidFill>
                          <a:latin typeface="Calibri"/>
                        </a:rPr>
                        <a:t>7/10</a:t>
                      </a:r>
                    </a:p>
                  </a:txBody>
                  <a:tcPr anchor="ctr">
                    <a:solidFill>
                      <a:srgbClr val="1B1B2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D4D4D4"/>
                          </a:solidFill>
                          <a:latin typeface="Calibri"/>
                        </a:rPr>
                        <a:t>Protein</a:t>
                      </a:r>
                    </a:p>
                  </a:txBody>
                  <a:tcPr anchor="ctr">
                    <a:solidFill>
                      <a:srgbClr val="1B1B2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D4D4D4"/>
                          </a:solidFill>
                          <a:latin typeface="Calibri"/>
                        </a:rPr>
                        <a:t>ESM-1v MLM</a:t>
                      </a:r>
                    </a:p>
                  </a:txBody>
                  <a:tcPr anchor="ctr">
                    <a:solidFill>
                      <a:srgbClr val="2A2A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D4D4D4"/>
                          </a:solidFill>
                          <a:latin typeface="Calibri"/>
                        </a:rPr>
                        <a:t>0.297</a:t>
                      </a:r>
                    </a:p>
                  </a:txBody>
                  <a:tcPr anchor="ctr">
                    <a:solidFill>
                      <a:srgbClr val="2A2A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D4D4D4"/>
                          </a:solidFill>
                          <a:latin typeface="Calibri"/>
                        </a:rPr>
                        <a:t>7/10</a:t>
                      </a:r>
                    </a:p>
                  </a:txBody>
                  <a:tcPr anchor="ctr">
                    <a:solidFill>
                      <a:srgbClr val="2A2A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D4D4D4"/>
                          </a:solidFill>
                          <a:latin typeface="Calibri"/>
                        </a:rPr>
                        <a:t>Protein</a:t>
                      </a:r>
                    </a:p>
                  </a:txBody>
                  <a:tcPr anchor="ctr">
                    <a:solidFill>
                      <a:srgbClr val="2A2A44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D4D4D4"/>
                          </a:solidFill>
                          <a:latin typeface="Calibri"/>
                        </a:rPr>
                        <a:t>ProtT5 Cosine</a:t>
                      </a:r>
                    </a:p>
                  </a:txBody>
                  <a:tcPr anchor="ctr">
                    <a:solidFill>
                      <a:srgbClr val="1B1B2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D4D4D4"/>
                          </a:solidFill>
                          <a:latin typeface="Calibri"/>
                        </a:rPr>
                        <a:t>0.242</a:t>
                      </a:r>
                    </a:p>
                  </a:txBody>
                  <a:tcPr anchor="ctr">
                    <a:solidFill>
                      <a:srgbClr val="1B1B2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D4D4D4"/>
                          </a:solidFill>
                          <a:latin typeface="Calibri"/>
                        </a:rPr>
                        <a:t>8/10</a:t>
                      </a:r>
                    </a:p>
                  </a:txBody>
                  <a:tcPr anchor="ctr">
                    <a:solidFill>
                      <a:srgbClr val="1B1B2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D4D4D4"/>
                          </a:solidFill>
                          <a:latin typeface="Calibri"/>
                        </a:rPr>
                        <a:t>Protein</a:t>
                      </a:r>
                    </a:p>
                  </a:txBody>
                  <a:tcPr anchor="ctr">
                    <a:solidFill>
                      <a:srgbClr val="1B1B2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D4D4D4"/>
                          </a:solidFill>
                          <a:latin typeface="Calibri"/>
                        </a:rPr>
                        <a:t>ProtBERT MLM</a:t>
                      </a:r>
                    </a:p>
                  </a:txBody>
                  <a:tcPr anchor="ctr">
                    <a:solidFill>
                      <a:srgbClr val="2A2A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D4D4D4"/>
                          </a:solidFill>
                          <a:latin typeface="Calibri"/>
                        </a:rPr>
                        <a:t>0.221</a:t>
                      </a:r>
                    </a:p>
                  </a:txBody>
                  <a:tcPr anchor="ctr">
                    <a:solidFill>
                      <a:srgbClr val="2A2A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D4D4D4"/>
                          </a:solidFill>
                          <a:latin typeface="Calibri"/>
                        </a:rPr>
                        <a:t>7/10</a:t>
                      </a:r>
                    </a:p>
                  </a:txBody>
                  <a:tcPr anchor="ctr">
                    <a:solidFill>
                      <a:srgbClr val="2A2A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D4D4D4"/>
                          </a:solidFill>
                          <a:latin typeface="Calibri"/>
                        </a:rPr>
                        <a:t>Protein</a:t>
                      </a:r>
                    </a:p>
                  </a:txBody>
                  <a:tcPr anchor="ctr">
                    <a:solidFill>
                      <a:srgbClr val="2A2A44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D4D4D4"/>
                          </a:solidFill>
                          <a:latin typeface="Calibri"/>
                        </a:rPr>
                        <a:t>NT-v2</a:t>
                      </a:r>
                    </a:p>
                  </a:txBody>
                  <a:tcPr anchor="ctr">
                    <a:solidFill>
                      <a:srgbClr val="1B1B2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D4D4D4"/>
                          </a:solidFill>
                          <a:latin typeface="Calibri"/>
                        </a:rPr>
                        <a:t>0.117</a:t>
                      </a:r>
                    </a:p>
                  </a:txBody>
                  <a:tcPr anchor="ctr">
                    <a:solidFill>
                      <a:srgbClr val="1B1B2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D4D4D4"/>
                          </a:solidFill>
                          <a:latin typeface="Calibri"/>
                        </a:rPr>
                        <a:t>4/10</a:t>
                      </a:r>
                    </a:p>
                  </a:txBody>
                  <a:tcPr anchor="ctr">
                    <a:solidFill>
                      <a:srgbClr val="1B1B2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D4D4D4"/>
                          </a:solidFill>
                          <a:latin typeface="Calibri"/>
                        </a:rPr>
                        <a:t>Nucleotide</a:t>
                      </a:r>
                    </a:p>
                  </a:txBody>
                  <a:tcPr anchor="ctr">
                    <a:solidFill>
                      <a:srgbClr val="1B1B2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D4D4D4"/>
                          </a:solidFill>
                          <a:latin typeface="Calibri"/>
                        </a:rPr>
                        <a:t>DNABERT-2</a:t>
                      </a:r>
                    </a:p>
                  </a:txBody>
                  <a:tcPr anchor="ctr">
                    <a:solidFill>
                      <a:srgbClr val="2A2A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D4D4D4"/>
                          </a:solidFill>
                          <a:latin typeface="Calibri"/>
                        </a:rPr>
                        <a:t>0.030</a:t>
                      </a:r>
                    </a:p>
                  </a:txBody>
                  <a:tcPr anchor="ctr">
                    <a:solidFill>
                      <a:srgbClr val="2A2A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D4D4D4"/>
                          </a:solidFill>
                          <a:latin typeface="Calibri"/>
                        </a:rPr>
                        <a:t>3/10</a:t>
                      </a:r>
                    </a:p>
                  </a:txBody>
                  <a:tcPr anchor="ctr">
                    <a:solidFill>
                      <a:srgbClr val="2A2A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D4D4D4"/>
                          </a:solidFill>
                          <a:latin typeface="Calibri"/>
                        </a:rPr>
                        <a:t>Nucleotide</a:t>
                      </a:r>
                    </a:p>
                  </a:txBody>
                  <a:tcPr anchor="ctr">
                    <a:solidFill>
                      <a:srgbClr val="2A2A44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D4D4D4"/>
                          </a:solidFill>
                          <a:latin typeface="Calibri"/>
                        </a:rPr>
                        <a:t>GenaLM</a:t>
                      </a:r>
                    </a:p>
                  </a:txBody>
                  <a:tcPr anchor="ctr">
                    <a:solidFill>
                      <a:srgbClr val="1B1B2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D4D4D4"/>
                          </a:solidFill>
                          <a:latin typeface="Calibri"/>
                        </a:rPr>
                        <a:t>0.022</a:t>
                      </a:r>
                    </a:p>
                  </a:txBody>
                  <a:tcPr anchor="ctr">
                    <a:solidFill>
                      <a:srgbClr val="1B1B2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D4D4D4"/>
                          </a:solidFill>
                          <a:latin typeface="Calibri"/>
                        </a:rPr>
                        <a:t>0/10</a:t>
                      </a:r>
                    </a:p>
                  </a:txBody>
                  <a:tcPr anchor="ctr">
                    <a:solidFill>
                      <a:srgbClr val="1B1B2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D4D4D4"/>
                          </a:solidFill>
                          <a:latin typeface="Calibri"/>
                        </a:rPr>
                        <a:t>Nucleotide</a:t>
                      </a:r>
                    </a:p>
                  </a:txBody>
                  <a:tcPr anchor="ctr">
                    <a:solidFill>
                      <a:srgbClr val="1B1B2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D4D4D4"/>
                          </a:solidFill>
                          <a:latin typeface="Calibri"/>
                        </a:rPr>
                        <a:t>HyenaDNA</a:t>
                      </a:r>
                    </a:p>
                  </a:txBody>
                  <a:tcPr anchor="ctr">
                    <a:solidFill>
                      <a:srgbClr val="2A2A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D4D4D4"/>
                          </a:solidFill>
                          <a:latin typeface="Calibri"/>
                        </a:rPr>
                        <a:t>−0.005</a:t>
                      </a:r>
                    </a:p>
                  </a:txBody>
                  <a:tcPr anchor="ctr">
                    <a:solidFill>
                      <a:srgbClr val="2A2A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D4D4D4"/>
                          </a:solidFill>
                          <a:latin typeface="Calibri"/>
                        </a:rPr>
                        <a:t>0/10</a:t>
                      </a:r>
                    </a:p>
                  </a:txBody>
                  <a:tcPr anchor="ctr">
                    <a:solidFill>
                      <a:srgbClr val="2A2A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D4D4D4"/>
                          </a:solidFill>
                          <a:latin typeface="Calibri"/>
                        </a:rPr>
                        <a:t>Nucleotide</a:t>
                      </a:r>
                    </a:p>
                  </a:txBody>
                  <a:tcPr anchor="ctr">
                    <a:solidFill>
                      <a:srgbClr val="2A2A44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8046720" y="1188720"/>
            <a:ext cx="3657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800" b="1">
                <a:solidFill>
                  <a:srgbClr val="569CD6"/>
                </a:solidFill>
                <a:latin typeface="Calibri"/>
              </a:rPr>
              <a:t>Top Per-Assay ρ</a:t>
            </a:r>
          </a:p>
          <a:p>
            <a:pPr algn="l">
              <a:spcBef>
                <a:spcPts val="600"/>
              </a:spcBef>
            </a:pPr>
            <a:r>
              <a:rPr sz="1400" b="0">
                <a:solidFill>
                  <a:srgbClr val="D4D4D4"/>
                </a:solidFill>
                <a:latin typeface="Calibri"/>
              </a:rPr>
              <a:t>PPARG (ESM-1b): 0.609</a:t>
            </a:r>
          </a:p>
          <a:p>
            <a:pPr algn="l"/>
            <a:r>
              <a:rPr sz="1400" b="0">
                <a:solidFill>
                  <a:srgbClr val="D4D4D4"/>
                </a:solidFill>
                <a:latin typeface="Calibri"/>
              </a:rPr>
              <a:t>BLAT (ESM-1b): 0.566</a:t>
            </a:r>
          </a:p>
          <a:p>
            <a:pPr algn="l"/>
            <a:r>
              <a:rPr sz="1400" b="0">
                <a:solidFill>
                  <a:srgbClr val="D4D4D4"/>
                </a:solidFill>
                <a:latin typeface="Calibri"/>
              </a:rPr>
              <a:t>SRC (ProtT5): 0.510</a:t>
            </a:r>
          </a:p>
          <a:p>
            <a:pPr algn="l"/>
            <a:r>
              <a:rPr sz="1400" b="0">
                <a:solidFill>
                  <a:srgbClr val="D4D4D4"/>
                </a:solidFill>
                <a:latin typeface="Calibri"/>
              </a:rPr>
              <a:t>P53 (ESM-1b): 0.443</a:t>
            </a:r>
          </a:p>
          <a:p>
            <a:pPr algn="l"/>
            <a:r>
              <a:rPr sz="1400" b="0">
                <a:solidFill>
                  <a:srgbClr val="D4D4D4"/>
                </a:solidFill>
                <a:latin typeface="Calibri"/>
              </a:rPr>
              <a:t>BRCA1 (ProtT5): 0.406</a:t>
            </a:r>
          </a:p>
          <a:p>
            <a:pPr algn="l"/>
            <a:r>
              <a:rPr sz="800" b="0">
                <a:solidFill>
                  <a:srgbClr val="D4D4D4"/>
                </a:solidFill>
                <a:latin typeface="Calibri"/>
              </a:rPr>
              <a:t/>
            </a:r>
          </a:p>
          <a:p>
            <a:pPr algn="l">
              <a:spcBef>
                <a:spcPts val="800"/>
              </a:spcBef>
            </a:pPr>
            <a:r>
              <a:rPr sz="1800" b="1">
                <a:solidFill>
                  <a:srgbClr val="4EC9B0"/>
                </a:solidFill>
                <a:latin typeface="Calibri"/>
              </a:rPr>
              <a:t>Conclusion</a:t>
            </a:r>
          </a:p>
          <a:p>
            <a:pPr algn="l"/>
            <a:r>
              <a:rPr sz="1400" b="0">
                <a:solidFill>
                  <a:srgbClr val="4EC9B0"/>
                </a:solidFill>
                <a:latin typeface="Calibri"/>
              </a:rPr>
              <a:t>Protein models: ρ = 0.22–0.32 (significant)</a:t>
            </a:r>
          </a:p>
          <a:p>
            <a:pPr algn="l"/>
            <a:r>
              <a:rPr sz="1400" b="0">
                <a:solidFill>
                  <a:srgbClr val="F44747"/>
                </a:solidFill>
                <a:latin typeface="Calibri"/>
              </a:rPr>
              <a:t>Nucleotide models: ρ ≈ 0.03 (near chance)</a:t>
            </a:r>
          </a:p>
          <a:p>
            <a:pPr algn="l">
              <a:spcBef>
                <a:spcPts val="600"/>
              </a:spcBef>
            </a:pPr>
            <a:r>
              <a:rPr sz="1400" b="0">
                <a:solidFill>
                  <a:srgbClr val="D4D4D4"/>
                </a:solidFill>
                <a:latin typeface="Calibri"/>
              </a:rPr>
              <a:t>→ Protein models capture amino-acid fitness</a:t>
            </a:r>
          </a:p>
          <a:p>
            <a:pPr algn="l"/>
            <a:r>
              <a:rPr sz="1400" b="0">
                <a:solidFill>
                  <a:srgbClr val="D4D4D4"/>
                </a:solidFill>
                <a:latin typeface="Calibri"/>
              </a:rPr>
              <a:t>→ Nucleotide models cannot predict DMS effects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r"/>
            <a:r>
              <a:rPr sz="1000" b="0">
                <a:solidFill>
                  <a:srgbClr val="808080"/>
                </a:solidFill>
                <a:latin typeface="Calibri"/>
              </a:rPr>
              <a:t>17 / 24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3000" b="1">
                <a:solidFill>
                  <a:srgbClr val="4EC9B0"/>
                </a:solidFill>
                <a:latin typeface="Calibri"/>
              </a:rPr>
              <a:t>Splice Variant Classification (1,216 Variants)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88720"/>
          <a:ext cx="96012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286000"/>
                <a:gridCol w="2286000"/>
                <a:gridCol w="2286000"/>
              </a:tblGrid>
              <a:tr h="418011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 anchor="ctr">
                    <a:solidFill>
                      <a:srgbClr val="4EC9B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Splice AUROC</a:t>
                      </a:r>
                    </a:p>
                  </a:txBody>
                  <a:tcPr anchor="ctr">
                    <a:solidFill>
                      <a:srgbClr val="4EC9B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Missense AUROC</a:t>
                      </a:r>
                    </a:p>
                  </a:txBody>
                  <a:tcPr anchor="ctr">
                    <a:solidFill>
                      <a:srgbClr val="4EC9B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Domain</a:t>
                      </a:r>
                    </a:p>
                  </a:txBody>
                  <a:tcPr anchor="ctr">
                    <a:solidFill>
                      <a:srgbClr val="4EC9B0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D4D4D4"/>
                          </a:solidFill>
                          <a:latin typeface="Calibri"/>
                        </a:rPr>
                        <a:t>ESM-1b MLM</a:t>
                      </a:r>
                    </a:p>
                  </a:txBody>
                  <a:tcPr anchor="ctr">
                    <a:solidFill>
                      <a:srgbClr val="1B1B2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D4D4D4"/>
                          </a:solidFill>
                          <a:latin typeface="Calibri"/>
                        </a:rPr>
                        <a:t>0.500 (chance)</a:t>
                      </a:r>
                    </a:p>
                  </a:txBody>
                  <a:tcPr anchor="ctr">
                    <a:solidFill>
                      <a:srgbClr val="1B1B2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D4D4D4"/>
                          </a:solidFill>
                          <a:latin typeface="Calibri"/>
                        </a:rPr>
                        <a:t>0.882</a:t>
                      </a:r>
                    </a:p>
                  </a:txBody>
                  <a:tcPr anchor="ctr">
                    <a:solidFill>
                      <a:srgbClr val="1B1B2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D4D4D4"/>
                          </a:solidFill>
                          <a:latin typeface="Calibri"/>
                        </a:rPr>
                        <a:t>Protein</a:t>
                      </a:r>
                    </a:p>
                  </a:txBody>
                  <a:tcPr anchor="ctr">
                    <a:solidFill>
                      <a:srgbClr val="1B1B2F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D4D4D4"/>
                          </a:solidFill>
                          <a:latin typeface="Calibri"/>
                        </a:rPr>
                        <a:t>ESM-1v MLM</a:t>
                      </a:r>
                    </a:p>
                  </a:txBody>
                  <a:tcPr anchor="ctr">
                    <a:solidFill>
                      <a:srgbClr val="2A2A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D4D4D4"/>
                          </a:solidFill>
                          <a:latin typeface="Calibri"/>
                        </a:rPr>
                        <a:t>0.500 (chance)</a:t>
                      </a:r>
                    </a:p>
                  </a:txBody>
                  <a:tcPr anchor="ctr">
                    <a:solidFill>
                      <a:srgbClr val="2A2A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D4D4D4"/>
                          </a:solidFill>
                          <a:latin typeface="Calibri"/>
                        </a:rPr>
                        <a:t>0.873</a:t>
                      </a:r>
                    </a:p>
                  </a:txBody>
                  <a:tcPr anchor="ctr">
                    <a:solidFill>
                      <a:srgbClr val="2A2A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D4D4D4"/>
                          </a:solidFill>
                          <a:latin typeface="Calibri"/>
                        </a:rPr>
                        <a:t>Protein</a:t>
                      </a:r>
                    </a:p>
                  </a:txBody>
                  <a:tcPr anchor="ctr">
                    <a:solidFill>
                      <a:srgbClr val="2A2A44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D4D4D4"/>
                          </a:solidFill>
                          <a:latin typeface="Calibri"/>
                        </a:rPr>
                        <a:t>ProtBERT Cos</a:t>
                      </a:r>
                    </a:p>
                  </a:txBody>
                  <a:tcPr anchor="ctr">
                    <a:solidFill>
                      <a:srgbClr val="1B1B2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D4D4D4"/>
                          </a:solidFill>
                          <a:latin typeface="Calibri"/>
                        </a:rPr>
                        <a:t>0.500 (chance)</a:t>
                      </a:r>
                    </a:p>
                  </a:txBody>
                  <a:tcPr anchor="ctr">
                    <a:solidFill>
                      <a:srgbClr val="1B1B2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D4D4D4"/>
                          </a:solidFill>
                          <a:latin typeface="Calibri"/>
                        </a:rPr>
                        <a:t>0.779</a:t>
                      </a:r>
                    </a:p>
                  </a:txBody>
                  <a:tcPr anchor="ctr">
                    <a:solidFill>
                      <a:srgbClr val="1B1B2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D4D4D4"/>
                          </a:solidFill>
                          <a:latin typeface="Calibri"/>
                        </a:rPr>
                        <a:t>Protein</a:t>
                      </a:r>
                    </a:p>
                  </a:txBody>
                  <a:tcPr anchor="ctr">
                    <a:solidFill>
                      <a:srgbClr val="1B1B2F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D4D4D4"/>
                          </a:solidFill>
                          <a:latin typeface="Calibri"/>
                        </a:rPr>
                        <a:t>NT-v2 (cosine, 500bp)</a:t>
                      </a:r>
                    </a:p>
                  </a:txBody>
                  <a:tcPr anchor="ctr">
                    <a:solidFill>
                      <a:srgbClr val="2A2A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D4D4D4"/>
                          </a:solidFill>
                          <a:latin typeface="Calibri"/>
                        </a:rPr>
                        <a:t>0.640</a:t>
                      </a:r>
                    </a:p>
                  </a:txBody>
                  <a:tcPr anchor="ctr">
                    <a:solidFill>
                      <a:srgbClr val="2A2A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D4D4D4"/>
                          </a:solidFill>
                          <a:latin typeface="Calibri"/>
                        </a:rPr>
                        <a:t>0.639</a:t>
                      </a:r>
                    </a:p>
                  </a:txBody>
                  <a:tcPr anchor="ctr">
                    <a:solidFill>
                      <a:srgbClr val="2A2A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D4D4D4"/>
                          </a:solidFill>
                          <a:latin typeface="Calibri"/>
                        </a:rPr>
                        <a:t>Nucleotide</a:t>
                      </a:r>
                    </a:p>
                  </a:txBody>
                  <a:tcPr anchor="ctr">
                    <a:solidFill>
                      <a:srgbClr val="2A2A44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D4D4D4"/>
                          </a:solidFill>
                          <a:latin typeface="Calibri"/>
                        </a:rPr>
                        <a:t>NT-v2 (marginal LL)</a:t>
                      </a:r>
                    </a:p>
                  </a:txBody>
                  <a:tcPr anchor="ctr">
                    <a:solidFill>
                      <a:srgbClr val="1B1B2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D4D4D4"/>
                          </a:solidFill>
                          <a:latin typeface="Calibri"/>
                        </a:rPr>
                        <a:t>0.523</a:t>
                      </a:r>
                    </a:p>
                  </a:txBody>
                  <a:tcPr anchor="ctr">
                    <a:solidFill>
                      <a:srgbClr val="1B1B2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D4D4D4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>
                    <a:solidFill>
                      <a:srgbClr val="1B1B2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D4D4D4"/>
                          </a:solidFill>
                          <a:latin typeface="Calibri"/>
                        </a:rPr>
                        <a:t>Nucleotide</a:t>
                      </a:r>
                    </a:p>
                  </a:txBody>
                  <a:tcPr anchor="ctr">
                    <a:solidFill>
                      <a:srgbClr val="1B1B2F"/>
                    </a:solidFill>
                  </a:tcPr>
                </a:tc>
              </a:tr>
              <a:tr h="418014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D4D4D4"/>
                          </a:solidFill>
                          <a:latin typeface="Calibri"/>
                        </a:rPr>
                        <a:t>NT-v2 (MLM at variant)</a:t>
                      </a:r>
                    </a:p>
                  </a:txBody>
                  <a:tcPr anchor="ctr">
                    <a:solidFill>
                      <a:srgbClr val="2A2A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D4D4D4"/>
                          </a:solidFill>
                          <a:latin typeface="Calibri"/>
                        </a:rPr>
                        <a:t>0.515</a:t>
                      </a:r>
                    </a:p>
                  </a:txBody>
                  <a:tcPr anchor="ctr">
                    <a:solidFill>
                      <a:srgbClr val="2A2A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D4D4D4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>
                    <a:solidFill>
                      <a:srgbClr val="2A2A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D4D4D4"/>
                          </a:solidFill>
                          <a:latin typeface="Calibri"/>
                        </a:rPr>
                        <a:t>Nucleotide</a:t>
                      </a:r>
                    </a:p>
                  </a:txBody>
                  <a:tcPr anchor="ctr">
                    <a:solidFill>
                      <a:srgbClr val="2A2A44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438912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800" b="1">
                <a:solidFill>
                  <a:srgbClr val="569CD6"/>
                </a:solidFill>
                <a:latin typeface="Calibri"/>
              </a:rPr>
              <a:t>Window Size Sensitivity (NT-v2)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4846320"/>
          <a:ext cx="36576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</a:tblGrid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Window (bp)</a:t>
                      </a:r>
                    </a:p>
                  </a:txBody>
                  <a:tcPr anchor="ctr">
                    <a:solidFill>
                      <a:srgbClr val="569C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AUROC</a:t>
                      </a:r>
                    </a:p>
                  </a:txBody>
                  <a:tcPr anchor="ctr">
                    <a:solidFill>
                      <a:srgbClr val="569CD6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4D4D4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anchor="ctr">
                    <a:solidFill>
                      <a:srgbClr val="1B1B2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4D4D4"/>
                          </a:solidFill>
                          <a:latin typeface="Calibri"/>
                        </a:rPr>
                        <a:t>0.612</a:t>
                      </a:r>
                    </a:p>
                  </a:txBody>
                  <a:tcPr anchor="ctr">
                    <a:solidFill>
                      <a:srgbClr val="1B1B2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4D4D4"/>
                          </a:solidFill>
                          <a:latin typeface="Calibri"/>
                        </a:rPr>
                        <a:t>50</a:t>
                      </a:r>
                    </a:p>
                  </a:txBody>
                  <a:tcPr anchor="ctr">
                    <a:solidFill>
                      <a:srgbClr val="2A2A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4D4D4"/>
                          </a:solidFill>
                          <a:latin typeface="Calibri"/>
                        </a:rPr>
                        <a:t>0.622</a:t>
                      </a:r>
                    </a:p>
                  </a:txBody>
                  <a:tcPr anchor="ctr">
                    <a:solidFill>
                      <a:srgbClr val="2A2A44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4D4D4"/>
                          </a:solidFill>
                          <a:latin typeface="Calibri"/>
                        </a:rPr>
                        <a:t>100</a:t>
                      </a:r>
                    </a:p>
                  </a:txBody>
                  <a:tcPr anchor="ctr">
                    <a:solidFill>
                      <a:srgbClr val="1B1B2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4D4D4"/>
                          </a:solidFill>
                          <a:latin typeface="Calibri"/>
                        </a:rPr>
                        <a:t>0.637</a:t>
                      </a:r>
                    </a:p>
                  </a:txBody>
                  <a:tcPr anchor="ctr">
                    <a:solidFill>
                      <a:srgbClr val="1B1B2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4D4D4"/>
                          </a:solidFill>
                          <a:latin typeface="Calibri"/>
                        </a:rPr>
                        <a:t>200</a:t>
                      </a:r>
                    </a:p>
                  </a:txBody>
                  <a:tcPr anchor="ctr">
                    <a:solidFill>
                      <a:srgbClr val="2A2A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4D4D4"/>
                          </a:solidFill>
                          <a:latin typeface="Calibri"/>
                        </a:rPr>
                        <a:t>0.639</a:t>
                      </a:r>
                    </a:p>
                  </a:txBody>
                  <a:tcPr anchor="ctr">
                    <a:solidFill>
                      <a:srgbClr val="2A2A44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4D4D4"/>
                          </a:solidFill>
                          <a:latin typeface="Calibri"/>
                        </a:rPr>
                        <a:t>500</a:t>
                      </a:r>
                    </a:p>
                  </a:txBody>
                  <a:tcPr anchor="ctr">
                    <a:solidFill>
                      <a:srgbClr val="1B1B2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4D4D4"/>
                          </a:solidFill>
                          <a:latin typeface="Calibri"/>
                        </a:rPr>
                        <a:t>0.640</a:t>
                      </a:r>
                    </a:p>
                  </a:txBody>
                  <a:tcPr anchor="ctr">
                    <a:solidFill>
                      <a:srgbClr val="1B1B2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217920" y="4389120"/>
            <a:ext cx="52120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800" b="1">
                <a:solidFill>
                  <a:srgbClr val="4EC9B0"/>
                </a:solidFill>
                <a:latin typeface="Calibri"/>
              </a:rPr>
              <a:t>Key Insight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 b="0">
                <a:solidFill>
                  <a:srgbClr val="F44747"/>
                </a:solidFill>
                <a:latin typeface="Calibri"/>
              </a:rPr>
              <a:t>• Protein models at chance (0.500) on splice variants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 b="0">
                <a:solidFill>
                  <a:srgbClr val="4EC9B0"/>
                </a:solidFill>
                <a:latin typeface="Calibri"/>
              </a:rPr>
              <a:t>• NT-v2 achieves 0.640 with cosine on 500bp window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 b="0">
                <a:solidFill>
                  <a:srgbClr val="D4D4D4"/>
                </a:solidFill>
                <a:latin typeface="Calibri"/>
              </a:rPr>
              <a:t>• → Nucleotide models capture splice-disruption context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 b="0">
                <a:solidFill>
                  <a:srgbClr val="D4D4D4"/>
                </a:solidFill>
                <a:latin typeface="Calibri"/>
              </a:rPr>
              <a:t>• → Protein models are blind to splicing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 b="1">
                <a:solidFill>
                  <a:srgbClr val="4EC9B0"/>
                </a:solidFill>
                <a:latin typeface="Calibri"/>
              </a:rPr>
              <a:t>• → Complementary signals confirmed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r"/>
            <a:r>
              <a:rPr sz="1000" b="0">
                <a:solidFill>
                  <a:srgbClr val="808080"/>
                </a:solidFill>
                <a:latin typeface="Calibri"/>
              </a:rPr>
              <a:t>18 / 24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32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4000" b="1">
                <a:solidFill>
                  <a:srgbClr val="4EC9B0"/>
                </a:solidFill>
                <a:latin typeface="Calibri"/>
              </a:rPr>
              <a:t>Part 6: Complementarity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2000" b="0">
                <a:solidFill>
                  <a:srgbClr val="D4D4D4"/>
                </a:solidFill>
                <a:latin typeface="Calibri"/>
              </a:rPr>
              <a:t>CKA Representations, Correlation Analysis, Orthogonality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r"/>
            <a:r>
              <a:rPr sz="1000" b="0">
                <a:solidFill>
                  <a:srgbClr val="808080"/>
                </a:solidFill>
                <a:latin typeface="Calibri"/>
              </a:rPr>
              <a:t>19 / 24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2800" b="1">
                <a:solidFill>
                  <a:srgbClr val="4EC9B0"/>
                </a:solidFill>
                <a:latin typeface="Calibri"/>
              </a:rPr>
              <a:t>Orthogonality of Protein and Nucleotide Representations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5303520" cy="2743200"/>
          </a:xfrm>
          <a:prstGeom prst="rect">
            <a:avLst/>
          </a:prstGeom>
          <a:solidFill>
            <a:srgbClr val="24243E"/>
          </a:solidFill>
          <a:ln w="25400">
            <a:solidFill>
              <a:srgbClr val="569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  <a:p>
            <a:pPr algn="l"/>
            <a:r>
              <a:rPr sz="2000" b="1">
                <a:solidFill>
                  <a:srgbClr val="569CD6"/>
                </a:solidFill>
                <a:latin typeface="Calibri"/>
              </a:rPr>
              <a:t>CKA Similarity Analysis</a:t>
            </a:r>
          </a:p>
          <a:p>
            <a:pPr algn="l"/>
            <a:r>
              <a:rPr sz="600" b="0">
                <a:solidFill>
                  <a:srgbClr val="D4D4D4"/>
                </a:solidFill>
                <a:latin typeface="Calibri"/>
              </a:rPr>
              <a:t/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1828800"/>
          <a:ext cx="493776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2011680"/>
              </a:tblGrid>
              <a:tr h="402336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Comparison</a:t>
                      </a:r>
                    </a:p>
                  </a:txBody>
                  <a:tcPr anchor="ctr">
                    <a:solidFill>
                      <a:srgbClr val="569C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CKA</a:t>
                      </a:r>
                    </a:p>
                  </a:txBody>
                  <a:tcPr anchor="ctr">
                    <a:solidFill>
                      <a:srgbClr val="569CD6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D4D4D4"/>
                          </a:solidFill>
                          <a:latin typeface="Calibri"/>
                        </a:rPr>
                        <a:t>Intra-Protein MLM</a:t>
                      </a:r>
                    </a:p>
                  </a:txBody>
                  <a:tcPr anchor="ctr">
                    <a:solidFill>
                      <a:srgbClr val="1B1B2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D4D4D4"/>
                          </a:solidFill>
                          <a:latin typeface="Calibri"/>
                        </a:rPr>
                        <a:t>0.393 ± 0.366</a:t>
                      </a:r>
                    </a:p>
                  </a:txBody>
                  <a:tcPr anchor="ctr">
                    <a:solidFill>
                      <a:srgbClr val="1B1B2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D4D4D4"/>
                          </a:solidFill>
                          <a:latin typeface="Calibri"/>
                        </a:rPr>
                        <a:t>Intra-Nucleotide MLM</a:t>
                      </a:r>
                    </a:p>
                  </a:txBody>
                  <a:tcPr anchor="ctr">
                    <a:solidFill>
                      <a:srgbClr val="2A2A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D4D4D4"/>
                          </a:solidFill>
                          <a:latin typeface="Calibri"/>
                        </a:rPr>
                        <a:t>0.071 ± 0.065</a:t>
                      </a:r>
                    </a:p>
                  </a:txBody>
                  <a:tcPr anchor="ctr">
                    <a:solidFill>
                      <a:srgbClr val="2A2A44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D4D4D4"/>
                          </a:solidFill>
                          <a:latin typeface="Calibri"/>
                        </a:rPr>
                        <a:t>Cross-Modality</a:t>
                      </a:r>
                    </a:p>
                  </a:txBody>
                  <a:tcPr anchor="ctr">
                    <a:solidFill>
                      <a:srgbClr val="1B1B2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D4D4D4"/>
                          </a:solidFill>
                          <a:latin typeface="Calibri"/>
                        </a:rPr>
                        <a:t>0.059 ± 0.120</a:t>
                      </a:r>
                    </a:p>
                  </a:txBody>
                  <a:tcPr anchor="ctr">
                    <a:solidFill>
                      <a:srgbClr val="1B1B2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D4D4D4"/>
                          </a:solidFill>
                          <a:latin typeface="Calibri"/>
                        </a:rPr>
                        <a:t>Mean Cross-Modality</a:t>
                      </a:r>
                    </a:p>
                  </a:txBody>
                  <a:tcPr anchor="ctr">
                    <a:solidFill>
                      <a:srgbClr val="2A2A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D4D4D4"/>
                          </a:solidFill>
                          <a:latin typeface="Calibri"/>
                        </a:rPr>
                        <a:t>0.031</a:t>
                      </a:r>
                    </a:p>
                  </a:txBody>
                  <a:tcPr anchor="ctr">
                    <a:solidFill>
                      <a:srgbClr val="2A2A44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6309360" y="1280160"/>
            <a:ext cx="5303520" cy="2743200"/>
          </a:xfrm>
          <a:prstGeom prst="rect">
            <a:avLst/>
          </a:prstGeom>
          <a:solidFill>
            <a:srgbClr val="24243E"/>
          </a:solidFill>
          <a:ln w="25400">
            <a:solidFill>
              <a:srgbClr val="CE91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  <a:p>
            <a:pPr algn="l"/>
            <a:r>
              <a:rPr sz="2000" b="1">
                <a:solidFill>
                  <a:srgbClr val="CE9178"/>
                </a:solidFill>
                <a:latin typeface="Calibri"/>
              </a:rPr>
              <a:t>Pairwise Score Correlations</a:t>
            </a:r>
          </a:p>
          <a:p>
            <a:pPr algn="l"/>
            <a:r>
              <a:rPr sz="600" b="0">
                <a:solidFill>
                  <a:srgbClr val="D4D4D4"/>
                </a:solidFill>
                <a:latin typeface="Calibri"/>
              </a:rPr>
              <a:t/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92240" y="1828800"/>
          <a:ext cx="493776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2011680"/>
              </a:tblGrid>
              <a:tr h="402336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Comparison</a:t>
                      </a:r>
                    </a:p>
                  </a:txBody>
                  <a:tcPr anchor="ctr">
                    <a:solidFill>
                      <a:srgbClr val="CE91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r</a:t>
                      </a:r>
                    </a:p>
                  </a:txBody>
                  <a:tcPr anchor="ctr">
                    <a:solidFill>
                      <a:srgbClr val="CE9178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D4D4D4"/>
                          </a:solidFill>
                          <a:latin typeface="Calibri"/>
                        </a:rPr>
                        <a:t>ESM-1b vs ESM-1v</a:t>
                      </a:r>
                    </a:p>
                  </a:txBody>
                  <a:tcPr anchor="ctr">
                    <a:solidFill>
                      <a:srgbClr val="1B1B2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D4D4D4"/>
                          </a:solidFill>
                          <a:latin typeface="Calibri"/>
                        </a:rPr>
                        <a:t>0.393</a:t>
                      </a:r>
                    </a:p>
                  </a:txBody>
                  <a:tcPr anchor="ctr">
                    <a:solidFill>
                      <a:srgbClr val="1B1B2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D4D4D4"/>
                          </a:solidFill>
                          <a:latin typeface="Calibri"/>
                        </a:rPr>
                        <a:t>ESM-1b vs ProtBERT</a:t>
                      </a:r>
                    </a:p>
                  </a:txBody>
                  <a:tcPr anchor="ctr">
                    <a:solidFill>
                      <a:srgbClr val="2A2A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D4D4D4"/>
                          </a:solidFill>
                          <a:latin typeface="Calibri"/>
                        </a:rPr>
                        <a:t>0.281</a:t>
                      </a:r>
                    </a:p>
                  </a:txBody>
                  <a:tcPr anchor="ctr">
                    <a:solidFill>
                      <a:srgbClr val="2A2A44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D4D4D4"/>
                          </a:solidFill>
                          <a:latin typeface="Calibri"/>
                        </a:rPr>
                        <a:t>ESM-1b vs EVO2</a:t>
                      </a:r>
                    </a:p>
                  </a:txBody>
                  <a:tcPr anchor="ctr">
                    <a:solidFill>
                      <a:srgbClr val="1B1B2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D4D4D4"/>
                          </a:solidFill>
                          <a:latin typeface="Calibri"/>
                        </a:rPr>
                        <a:t>~0.00</a:t>
                      </a:r>
                    </a:p>
                  </a:txBody>
                  <a:tcPr anchor="ctr">
                    <a:solidFill>
                      <a:srgbClr val="1B1B2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D4D4D4"/>
                          </a:solidFill>
                          <a:latin typeface="Calibri"/>
                        </a:rPr>
                        <a:t>ESM-1b vs NT-v2</a:t>
                      </a:r>
                    </a:p>
                  </a:txBody>
                  <a:tcPr anchor="ctr">
                    <a:solidFill>
                      <a:srgbClr val="2A2A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D4D4D4"/>
                          </a:solidFill>
                          <a:latin typeface="Calibri"/>
                        </a:rPr>
                        <a:t>~0.00</a:t>
                      </a:r>
                    </a:p>
                  </a:txBody>
                  <a:tcPr anchor="ctr">
                    <a:solidFill>
                      <a:srgbClr val="2A2A44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" y="4297680"/>
            <a:ext cx="10698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400"/>
              </a:spcBef>
            </a:pPr>
            <a:r>
              <a:rPr sz="2200" b="1">
                <a:solidFill>
                  <a:srgbClr val="FFFFFF"/>
                </a:solidFill>
                <a:latin typeface="Calibri"/>
              </a:rPr>
              <a:t>Interpretation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500" b="0">
                <a:solidFill>
                  <a:srgbClr val="D4D4D4"/>
                </a:solidFill>
                <a:latin typeface="Calibri"/>
              </a:rPr>
              <a:t>• Cross-modality CKA = 0.031 — extremely low → protein and nucleotide models learn fundamentally different representations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500" b="0">
                <a:solidFill>
                  <a:srgbClr val="D4D4D4"/>
                </a:solidFill>
                <a:latin typeface="Calibri"/>
              </a:rPr>
              <a:t>• Score correlations r ≈ 0.00 between protein and nucleotide models → predictions are independent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500" b="0">
                <a:solidFill>
                  <a:srgbClr val="D4D4D4"/>
                </a:solidFill>
                <a:latin typeface="Calibri"/>
              </a:rPr>
              <a:t>• Intra-protein CKA = 0.393 → protein models share substantial representational structure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500" b="0">
                <a:solidFill>
                  <a:srgbClr val="D4D4D4"/>
                </a:solidFill>
                <a:latin typeface="Calibri"/>
              </a:rPr>
              <a:t>• Pathogenic vs benign CKA &lt; 0.025 → all models reorganize representations for pathogenicity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600" b="1">
                <a:solidFill>
                  <a:srgbClr val="4EC9B0"/>
                </a:solidFill>
                <a:latin typeface="Calibri"/>
              </a:rPr>
              <a:t>• → Orthogonal encoding confirmed: each modality provides non-redundant information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r"/>
            <a:r>
              <a:rPr sz="1000" b="0">
                <a:solidFill>
                  <a:srgbClr val="808080"/>
                </a:solidFill>
                <a:latin typeface="Calibri"/>
              </a:rPr>
              <a:t>20 / 24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3000" b="1">
                <a:solidFill>
                  <a:srgbClr val="4EC9B0"/>
                </a:solidFill>
                <a:latin typeface="Calibri"/>
              </a:rPr>
              <a:t>Ablation Studies &amp; Quality Filtering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800" b="1">
                <a:solidFill>
                  <a:srgbClr val="569CD6"/>
                </a:solidFill>
                <a:latin typeface="Calibri"/>
              </a:rPr>
              <a:t>ClinVar Star Rating Analysis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645920"/>
          <a:ext cx="91440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  <a:gridCol w="2286000"/>
                <a:gridCol w="2286000"/>
              </a:tblGrid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 anchor="ctr">
                    <a:solidFill>
                      <a:srgbClr val="4EC9B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All (29,595)</a:t>
                      </a:r>
                    </a:p>
                  </a:txBody>
                  <a:tcPr anchor="ctr">
                    <a:solidFill>
                      <a:srgbClr val="4EC9B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Star 2+ (12,131)</a:t>
                      </a:r>
                    </a:p>
                  </a:txBody>
                  <a:tcPr anchor="ctr">
                    <a:solidFill>
                      <a:srgbClr val="4EC9B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Star 3+ (1,420)</a:t>
                      </a:r>
                    </a:p>
                  </a:txBody>
                  <a:tcPr anchor="ctr">
                    <a:solidFill>
                      <a:srgbClr val="4EC9B0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D4D4D4"/>
                          </a:solidFill>
                          <a:latin typeface="Calibri"/>
                        </a:rPr>
                        <a:t>ESM-1b</a:t>
                      </a:r>
                    </a:p>
                  </a:txBody>
                  <a:tcPr anchor="ctr">
                    <a:solidFill>
                      <a:srgbClr val="1B1B2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D4D4D4"/>
                          </a:solidFill>
                          <a:latin typeface="Calibri"/>
                        </a:rPr>
                        <a:t>0.906</a:t>
                      </a:r>
                    </a:p>
                  </a:txBody>
                  <a:tcPr anchor="ctr">
                    <a:solidFill>
                      <a:srgbClr val="1B1B2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D4D4D4"/>
                          </a:solidFill>
                          <a:latin typeface="Calibri"/>
                        </a:rPr>
                        <a:t>0.906</a:t>
                      </a:r>
                    </a:p>
                  </a:txBody>
                  <a:tcPr anchor="ctr">
                    <a:solidFill>
                      <a:srgbClr val="1B1B2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D4D4D4"/>
                          </a:solidFill>
                          <a:latin typeface="Calibri"/>
                        </a:rPr>
                        <a:t>0.906</a:t>
                      </a:r>
                    </a:p>
                  </a:txBody>
                  <a:tcPr anchor="ctr">
                    <a:solidFill>
                      <a:srgbClr val="1B1B2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D4D4D4"/>
                          </a:solidFill>
                          <a:latin typeface="Calibri"/>
                        </a:rPr>
                        <a:t>ProtT5</a:t>
                      </a:r>
                    </a:p>
                  </a:txBody>
                  <a:tcPr anchor="ctr">
                    <a:solidFill>
                      <a:srgbClr val="2A2A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D4D4D4"/>
                          </a:solidFill>
                          <a:latin typeface="Calibri"/>
                        </a:rPr>
                        <a:t>0.891</a:t>
                      </a:r>
                    </a:p>
                  </a:txBody>
                  <a:tcPr anchor="ctr">
                    <a:solidFill>
                      <a:srgbClr val="2A2A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D4D4D4"/>
                          </a:solidFill>
                          <a:latin typeface="Calibri"/>
                        </a:rPr>
                        <a:t>0.906</a:t>
                      </a:r>
                    </a:p>
                  </a:txBody>
                  <a:tcPr anchor="ctr">
                    <a:solidFill>
                      <a:srgbClr val="2A2A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D4D4D4"/>
                          </a:solidFill>
                          <a:latin typeface="Calibri"/>
                        </a:rPr>
                        <a:t>0.896</a:t>
                      </a:r>
                    </a:p>
                  </a:txBody>
                  <a:tcPr anchor="ctr">
                    <a:solidFill>
                      <a:srgbClr val="2A2A44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D4D4D4"/>
                          </a:solidFill>
                          <a:latin typeface="Calibri"/>
                        </a:rPr>
                        <a:t>Ankh</a:t>
                      </a:r>
                    </a:p>
                  </a:txBody>
                  <a:tcPr anchor="ctr">
                    <a:solidFill>
                      <a:srgbClr val="1B1B2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D4D4D4"/>
                          </a:solidFill>
                          <a:latin typeface="Calibri"/>
                        </a:rPr>
                        <a:t>0.884</a:t>
                      </a:r>
                    </a:p>
                  </a:txBody>
                  <a:tcPr anchor="ctr">
                    <a:solidFill>
                      <a:srgbClr val="1B1B2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D4D4D4"/>
                          </a:solidFill>
                          <a:latin typeface="Calibri"/>
                        </a:rPr>
                        <a:t>0.890</a:t>
                      </a:r>
                    </a:p>
                  </a:txBody>
                  <a:tcPr anchor="ctr">
                    <a:solidFill>
                      <a:srgbClr val="1B1B2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D4D4D4"/>
                          </a:solidFill>
                          <a:latin typeface="Calibri"/>
                        </a:rPr>
                        <a:t>0.896</a:t>
                      </a:r>
                    </a:p>
                  </a:txBody>
                  <a:tcPr anchor="ctr">
                    <a:solidFill>
                      <a:srgbClr val="1B1B2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D4D4D4"/>
                          </a:solidFill>
                          <a:latin typeface="Calibri"/>
                        </a:rPr>
                        <a:t>NT-v2</a:t>
                      </a:r>
                    </a:p>
                  </a:txBody>
                  <a:tcPr anchor="ctr">
                    <a:solidFill>
                      <a:srgbClr val="2A2A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D4D4D4"/>
                          </a:solidFill>
                          <a:latin typeface="Calibri"/>
                        </a:rPr>
                        <a:t>0.751</a:t>
                      </a:r>
                    </a:p>
                  </a:txBody>
                  <a:tcPr anchor="ctr">
                    <a:solidFill>
                      <a:srgbClr val="2A2A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D4D4D4"/>
                          </a:solidFill>
                          <a:latin typeface="Calibri"/>
                        </a:rPr>
                        <a:t>0.802</a:t>
                      </a:r>
                    </a:p>
                  </a:txBody>
                  <a:tcPr anchor="ctr">
                    <a:solidFill>
                      <a:srgbClr val="2A2A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D4D4D4"/>
                          </a:solidFill>
                          <a:latin typeface="Calibri"/>
                        </a:rPr>
                        <a:t>0.674</a:t>
                      </a:r>
                    </a:p>
                  </a:txBody>
                  <a:tcPr anchor="ctr">
                    <a:solidFill>
                      <a:srgbClr val="2A2A44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D4D4D4"/>
                          </a:solidFill>
                          <a:latin typeface="Calibri"/>
                        </a:rPr>
                        <a:t>DNABERT-2</a:t>
                      </a:r>
                    </a:p>
                  </a:txBody>
                  <a:tcPr anchor="ctr">
                    <a:solidFill>
                      <a:srgbClr val="1B1B2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D4D4D4"/>
                          </a:solidFill>
                          <a:latin typeface="Calibri"/>
                        </a:rPr>
                        <a:t>0.601</a:t>
                      </a:r>
                    </a:p>
                  </a:txBody>
                  <a:tcPr anchor="ctr">
                    <a:solidFill>
                      <a:srgbClr val="1B1B2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D4D4D4"/>
                          </a:solidFill>
                          <a:latin typeface="Calibri"/>
                        </a:rPr>
                        <a:t>0.615</a:t>
                      </a:r>
                    </a:p>
                  </a:txBody>
                  <a:tcPr anchor="ctr">
                    <a:solidFill>
                      <a:srgbClr val="1B1B2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D4D4D4"/>
                          </a:solidFill>
                          <a:latin typeface="Calibri"/>
                        </a:rPr>
                        <a:t>0.507</a:t>
                      </a:r>
                    </a:p>
                  </a:txBody>
                  <a:tcPr anchor="ctr">
                    <a:solidFill>
                      <a:srgbClr val="1B1B2F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731520" y="4206240"/>
            <a:ext cx="5303520" cy="2286000"/>
          </a:xfrm>
          <a:prstGeom prst="rect">
            <a:avLst/>
          </a:prstGeom>
          <a:solidFill>
            <a:srgbClr val="24243E"/>
          </a:solidFill>
          <a:ln w="25400">
            <a:solidFill>
              <a:srgbClr val="569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  <a:p>
            <a:pPr algn="l"/>
            <a:r>
              <a:rPr sz="1800" b="1">
                <a:solidFill>
                  <a:srgbClr val="569CD6"/>
                </a:solidFill>
                <a:latin typeface="Calibri"/>
              </a:rPr>
              <a:t>Methodological Corrections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300" b="0">
                <a:solidFill>
                  <a:srgbClr val="D4D4D4"/>
                </a:solidFill>
                <a:latin typeface="Calibri"/>
              </a:rPr>
              <a:t>• Linear probing skew: random splits inflate AUROC by 0.02–0.07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300" b="0">
                <a:solidFill>
                  <a:srgbClr val="D4D4D4"/>
                </a:solidFill>
                <a:latin typeface="Calibri"/>
              </a:rPr>
              <a:t>• ESM-1b: 0.843 (random) → 0.821 (gene-disjoint)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300" b="0">
                <a:solidFill>
                  <a:srgbClr val="D4D4D4"/>
                </a:solidFill>
                <a:latin typeface="Calibri"/>
              </a:rPr>
              <a:t>• RBF-CKA γ sensitivity: γ=1 gives inflated CKA (&gt;0.9)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300" b="1">
                <a:solidFill>
                  <a:srgbClr val="4EC9B0"/>
                </a:solidFill>
                <a:latin typeface="Calibri"/>
              </a:rPr>
              <a:t>• → Must use median heuristic for reliable CKA</a:t>
            </a:r>
          </a:p>
        </p:txBody>
      </p:sp>
      <p:sp>
        <p:nvSpPr>
          <p:cNvPr id="6" name="Rectangle 5"/>
          <p:cNvSpPr/>
          <p:nvPr/>
        </p:nvSpPr>
        <p:spPr>
          <a:xfrm>
            <a:off x="6309360" y="4206240"/>
            <a:ext cx="5303520" cy="2286000"/>
          </a:xfrm>
          <a:prstGeom prst="rect">
            <a:avLst/>
          </a:prstGeom>
          <a:solidFill>
            <a:srgbClr val="24243E"/>
          </a:solidFill>
          <a:ln w="25400">
            <a:solidFill>
              <a:srgbClr val="CE91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  <a:p>
            <a:pPr algn="l"/>
            <a:r>
              <a:rPr sz="1800" b="1">
                <a:solidFill>
                  <a:srgbClr val="CE9178"/>
                </a:solidFill>
                <a:latin typeface="Calibri"/>
              </a:rPr>
              <a:t>Variant Difficulty Correlates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300" b="0">
                <a:solidFill>
                  <a:srgbClr val="D4D4D4"/>
                </a:solidFill>
                <a:latin typeface="Calibri"/>
              </a:rPr>
              <a:t>• BLOSUM62: r = −0.181 (conservative → easier)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300" b="0">
                <a:solidFill>
                  <a:srgbClr val="D4D4D4"/>
                </a:solidFill>
                <a:latin typeface="Calibri"/>
              </a:rPr>
              <a:t>• Grantham distance: r = 0.180 (radical → harder)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300" b="0">
                <a:solidFill>
                  <a:srgbClr val="D4D4D4"/>
                </a:solidFill>
                <a:latin typeface="Calibri"/>
              </a:rPr>
              <a:t>• Cysteine changes: r = 0.142 (structural → harder)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300" b="0">
                <a:solidFill>
                  <a:srgbClr val="D4D4D4"/>
                </a:solidFill>
                <a:latin typeface="Calibri"/>
              </a:rPr>
              <a:t>• Protein length: r = −0.110 (longer → easier)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r"/>
            <a:r>
              <a:rPr sz="1000" b="0">
                <a:solidFill>
                  <a:srgbClr val="808080"/>
                </a:solidFill>
                <a:latin typeface="Calibri"/>
              </a:rPr>
              <a:t>21 / 24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3000" b="1">
                <a:solidFill>
                  <a:srgbClr val="4EC9B0"/>
                </a:solidFill>
                <a:latin typeface="Calibri"/>
              </a:rPr>
              <a:t>AlphaGenome Integration (In Progress)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400"/>
              </a:spcBef>
            </a:pPr>
            <a:r>
              <a:rPr sz="2200" b="1">
                <a:solidFill>
                  <a:srgbClr val="569CD6"/>
                </a:solidFill>
                <a:latin typeface="Calibri"/>
              </a:rPr>
              <a:t>What is AlphaGenome?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600" b="0">
                <a:solidFill>
                  <a:srgbClr val="D4D4D4"/>
                </a:solidFill>
                <a:latin typeface="Calibri"/>
              </a:rPr>
              <a:t>• Google DeepMind's variant effect predictor for regulatory effects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600" b="0">
                <a:solidFill>
                  <a:srgbClr val="D4D4D4"/>
                </a:solidFill>
                <a:latin typeface="Calibri"/>
              </a:rPr>
              <a:t>• Predicts: RNA-seq, splice sites, splice site usage, DNase, ATAC, contact maps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600" b="0">
                <a:solidFill>
                  <a:srgbClr val="D4D4D4"/>
                </a:solidFill>
                <a:latin typeface="Calibri"/>
              </a:rPr>
              <a:t>• Uses JAX + Orbax checkpoint format</a:t>
            </a:r>
          </a:p>
          <a:p>
            <a:pPr algn="l">
              <a:spcBef>
                <a:spcPts val="800"/>
              </a:spcBef>
            </a:pPr>
            <a:r>
              <a:rPr sz="2200" b="1">
                <a:solidFill>
                  <a:srgbClr val="569CD6"/>
                </a:solidFill>
                <a:latin typeface="Calibri"/>
              </a:rPr>
              <a:t>Installation &amp; Setup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600" b="0">
                <a:solidFill>
                  <a:srgbClr val="D4D4D4"/>
                </a:solidFill>
                <a:latin typeface="Calibri"/>
              </a:rPr>
              <a:t>• Python 3.11 environment with JAX 0.10.2 + CUDA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600" b="0">
                <a:solidFill>
                  <a:srgbClr val="D4D4D4"/>
                </a:solidFill>
                <a:latin typeface="Calibri"/>
              </a:rPr>
              <a:t>• Model weights: 0.73GB Orbax checkpoint (HuggingFace)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600" b="0">
                <a:solidFill>
                  <a:srgbClr val="D4D4D4"/>
                </a:solidFill>
                <a:latin typeface="Calibri"/>
              </a:rPr>
              <a:t>• Reference files: GRCh38 FASTA (3GB), GTF, polyA, splice annotations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600" b="0">
                <a:solidFill>
                  <a:srgbClr val="4EC9B0"/>
                </a:solidFill>
                <a:latin typeface="Calibri"/>
              </a:rPr>
              <a:t>• GPU test: Single variant scored on chr6 (HFE gene) — SUCCESS</a:t>
            </a:r>
          </a:p>
          <a:p>
            <a:pPr algn="l">
              <a:spcBef>
                <a:spcPts val="800"/>
              </a:spcBef>
            </a:pPr>
            <a:r>
              <a:rPr sz="2200" b="1">
                <a:solidFill>
                  <a:srgbClr val="569CD6"/>
                </a:solidFill>
                <a:latin typeface="Calibri"/>
              </a:rPr>
              <a:t>D1 Scoring (Running on gnode6 A100 GPUs)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600" b="0">
                <a:solidFill>
                  <a:srgbClr val="D4D4D4"/>
                </a:solidFill>
                <a:latin typeface="Calibri"/>
              </a:rPr>
              <a:t>• 5 GPUs (1-5), ~5,919 variants per GPU, ~2.5–3 variants/second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600" b="0">
                <a:solidFill>
                  <a:srgbClr val="D4D4D4"/>
                </a:solidFill>
                <a:latin typeface="Calibri"/>
              </a:rPr>
              <a:t>• Outputs: RNA_SEQ + SPLICE_SITES + SPLICE_SITE_USAGE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600" b="0">
                <a:solidFill>
                  <a:srgbClr val="FFA500"/>
                </a:solidFill>
                <a:latin typeface="Calibri"/>
              </a:rPr>
              <a:t>• ~10% variant failures from shape broadcasting (contact maps) — excluded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600" b="0">
                <a:solidFill>
                  <a:srgbClr val="D4D4D4"/>
                </a:solidFill>
                <a:latin typeface="Calibri"/>
              </a:rPr>
              <a:t>• D2 scoring to follow after D1 completion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r"/>
            <a:r>
              <a:rPr sz="1000" b="0">
                <a:solidFill>
                  <a:srgbClr val="808080"/>
                </a:solidFill>
                <a:latin typeface="Calibri"/>
              </a:rPr>
              <a:t>22 / 24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3000" b="1">
                <a:solidFill>
                  <a:srgbClr val="4EC9B0"/>
                </a:solidFill>
                <a:latin typeface="Calibri"/>
              </a:rPr>
              <a:t>Key Contributions &amp; Conclusion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10698480" cy="868680"/>
          </a:xfrm>
          <a:prstGeom prst="rect">
            <a:avLst/>
          </a:prstGeom>
          <a:solidFill>
            <a:srgbClr val="24243E"/>
          </a:solidFill>
          <a:ln w="25400">
            <a:solidFill>
              <a:srgbClr val="569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  <a:p>
            <a:pPr algn="l"/>
            <a:r>
              <a:rPr sz="1700" b="1">
                <a:solidFill>
                  <a:srgbClr val="569CD6"/>
                </a:solidFill>
                <a:latin typeface="Calibri"/>
              </a:rPr>
              <a:t>1. Controlled Cross-Modal Benchmark</a:t>
            </a:r>
          </a:p>
          <a:p>
            <a:pPr algn="l">
              <a:spcBef>
                <a:spcPts val="200"/>
              </a:spcBef>
            </a:pPr>
            <a:r>
              <a:rPr sz="1300" b="0">
                <a:solidFill>
                  <a:srgbClr val="D4D4D4"/>
                </a:solidFill>
                <a:latin typeface="Calibri"/>
              </a:rPr>
              <a:t>First systematic comparison of protein + nucleotide models under gene-disjoint evaluation (29,595 ClinVar variants + 9,627 temporal holdout)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286000"/>
            <a:ext cx="10698480" cy="868680"/>
          </a:xfrm>
          <a:prstGeom prst="rect">
            <a:avLst/>
          </a:prstGeom>
          <a:solidFill>
            <a:srgbClr val="24243E"/>
          </a:solidFill>
          <a:ln w="25400">
            <a:solidFill>
              <a:srgbClr val="CE91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  <a:p>
            <a:pPr algn="l"/>
            <a:r>
              <a:rPr sz="1700" b="1">
                <a:solidFill>
                  <a:srgbClr val="CE9178"/>
                </a:solidFill>
                <a:latin typeface="Calibri"/>
              </a:rPr>
              <a:t>2. Orthogonal Signal Encoding</a:t>
            </a:r>
          </a:p>
          <a:p>
            <a:pPr algn="l">
              <a:spcBef>
                <a:spcPts val="200"/>
              </a:spcBef>
            </a:pPr>
            <a:r>
              <a:rPr sz="1300" b="0">
                <a:solidFill>
                  <a:srgbClr val="D4D4D4"/>
                </a:solidFill>
                <a:latin typeface="Calibri"/>
              </a:rPr>
              <a:t>Protein models capture amino-acid biophysics (ProteinGym ρ=0.22–0.32); nucleotide models capture splice context (AUROC 0.640). CKA cross-modality = 0.031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3291840"/>
            <a:ext cx="10698480" cy="868680"/>
          </a:xfrm>
          <a:prstGeom prst="rect">
            <a:avLst/>
          </a:prstGeom>
          <a:solidFill>
            <a:srgbClr val="24243E"/>
          </a:solidFill>
          <a:ln w="25400">
            <a:solidFill>
              <a:srgbClr val="4EC9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  <a:p>
            <a:pPr algn="l"/>
            <a:r>
              <a:rPr sz="1700" b="1">
                <a:solidFill>
                  <a:srgbClr val="4EC9B0"/>
                </a:solidFill>
                <a:latin typeface="Calibri"/>
              </a:rPr>
              <a:t>3. Practical Fusion Meta-Learner</a:t>
            </a:r>
          </a:p>
          <a:p>
            <a:pPr algn="l">
              <a:spcBef>
                <a:spcPts val="200"/>
              </a:spcBef>
            </a:pPr>
            <a:r>
              <a:rPr sz="1300" b="0">
                <a:solidFill>
                  <a:srgbClr val="D4D4D4"/>
                </a:solidFill>
                <a:latin typeface="Calibri"/>
              </a:rPr>
              <a:t>Lightweight XGBoost achieves AUROC 0.933, within 1.5% of AlphaMissense (0.948) without population frequency data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4297680"/>
            <a:ext cx="10698480" cy="868680"/>
          </a:xfrm>
          <a:prstGeom prst="rect">
            <a:avLst/>
          </a:prstGeom>
          <a:solidFill>
            <a:srgbClr val="24243E"/>
          </a:solidFill>
          <a:ln w="25400">
            <a:solidFill>
              <a:srgbClr val="C586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  <a:p>
            <a:pPr algn="l"/>
            <a:r>
              <a:rPr sz="1700" b="1">
                <a:solidFill>
                  <a:srgbClr val="C586C0"/>
                </a:solidFill>
                <a:latin typeface="Calibri"/>
              </a:rPr>
              <a:t>4. Methodological Corrections</a:t>
            </a:r>
          </a:p>
          <a:p>
            <a:pPr algn="l">
              <a:spcBef>
                <a:spcPts val="200"/>
              </a:spcBef>
            </a:pPr>
            <a:r>
              <a:rPr sz="1300" b="0">
                <a:solidFill>
                  <a:srgbClr val="D4D4D4"/>
                </a:solidFill>
                <a:latin typeface="Calibri"/>
              </a:rPr>
              <a:t>Identified training-serving skew in linear probing (0.02–0.07 inflation) and RBF-CKA γ fragility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5303520"/>
            <a:ext cx="10698480" cy="868680"/>
          </a:xfrm>
          <a:prstGeom prst="rect">
            <a:avLst/>
          </a:prstGeom>
          <a:solidFill>
            <a:srgbClr val="24243E"/>
          </a:solidFill>
          <a:ln w="2540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  <a:p>
            <a:pPr algn="l"/>
            <a:r>
              <a:rPr sz="1700" b="1">
                <a:solidFill>
                  <a:srgbClr val="FFA500"/>
                </a:solidFill>
                <a:latin typeface="Calibri"/>
              </a:rPr>
              <a:t>5. EVO2-7B Benchmark</a:t>
            </a:r>
          </a:p>
          <a:p>
            <a:pPr algn="l">
              <a:spcBef>
                <a:spcPts val="200"/>
              </a:spcBef>
            </a:pPr>
            <a:r>
              <a:rPr sz="1300" b="0">
                <a:solidFill>
                  <a:srgbClr val="D4D4D4"/>
                </a:solidFill>
                <a:latin typeface="Calibri"/>
              </a:rPr>
              <a:t>7B nucleotide model AUROC 0.836 — strong but cannot match protein models; confirms protein-level information is irreducible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r"/>
            <a:r>
              <a:rPr sz="1000" b="0">
                <a:solidFill>
                  <a:srgbClr val="808080"/>
                </a:solidFill>
                <a:latin typeface="Calibri"/>
              </a:rPr>
              <a:t>23 / 24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0" y="1371600"/>
            <a:ext cx="6675120" cy="36576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/>
            <a:r>
              <a:rPr sz="4800" b="1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/>
            <a:r>
              <a:rPr sz="2200" b="0">
                <a:solidFill>
                  <a:srgbClr val="D4D4D4"/>
                </a:solidFill>
                <a:latin typeface="Calibri"/>
              </a:rPr>
              <a:t>Hitesh Nagar  ·  CSIR-IGIB, New Delhi  ·  hitesh@igib.in</a:t>
            </a:r>
          </a:p>
          <a:p>
            <a:pPr algn="ctr">
              <a:spcBef>
                <a:spcPts val="1000"/>
              </a:spcBef>
            </a:pPr>
            <a:r>
              <a:rPr sz="1800" b="0">
                <a:solidFill>
                  <a:srgbClr val="569CD6"/>
                </a:solidFill>
                <a:latin typeface="Calibri"/>
              </a:rPr>
              <a:t>GitHub: github.com/hiteshnagar2611/ICLR-Benchmark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0" y="4754880"/>
            <a:ext cx="6675120" cy="36576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5120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/>
            <a:r>
              <a:rPr sz="1600" b="0">
                <a:solidFill>
                  <a:srgbClr val="808080"/>
                </a:solidFill>
                <a:latin typeface="Calibri"/>
              </a:rPr>
              <a:t>Meta-Learner AUROC 0.933  ·  Protein-Nucleotide Orthogonality Confirmed  ·  Gene-Disjoint Evaluation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r"/>
            <a:r>
              <a:rPr sz="1000" b="0">
                <a:solidFill>
                  <a:srgbClr val="808080"/>
                </a:solidFill>
                <a:latin typeface="Calibri"/>
              </a:rPr>
              <a:t>24 / 24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